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type="wide"/>
  <p:notesSz cx="6858000" cy="9144000"/>
  <p:defaultTextStyle>
    <a:defPPr>
      <a:defRPr lang="en-US"/>
    </a:defPPr>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ppt-home.png" /></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ppt-login.png"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ppt-home.png"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ppt-search.png" /><Relationship Id="rId3" Type="http://schemas.openxmlformats.org/officeDocument/2006/relationships/image" Target="../media/ppt-search-results.png"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ppt-recipe-detail.png" /><Relationship Id="rId3" Type="http://schemas.openxmlformats.org/officeDocument/2006/relationships/image" Target="../media/ppt-settings.png" /></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ppt-meal-plans-list.png" /><Relationship Id="rId3" Type="http://schemas.openxmlformats.org/officeDocument/2006/relationships/image" Target="../media/ppt-meal-plan-create.png"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ppt-meal-plan-detail.png" /><Relationship Id="rId3" Type="http://schemas.openxmlformats.org/officeDocument/2006/relationships/image" Target="../media/ppt-meal-plan-add.png" /></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a:xfrm>
          <a:off x="0" y="0"/>
          <a:ext cx="0" cy="0"/>
          <a:chOff x="0" y="0"/>
          <a:chExt cx="0" cy="0"/>
        </a:xfrm>
      </p:grpSpPr>
      <p:sp>
        <p:nvSpPr>
          <p:cNvPr id="2" name="Title"/>
          <p:cNvSpPr txBox="1"/>
          <p:nvPr/>
        </p:nvSpPr>
        <p:spPr>
          <a:xfrm>
            <a:off x="457200" y="256032"/>
            <a:ext cx="8869680" cy="475488"/>
          </a:xfrm>
          <a:prstGeom prst="rect">
            <a:avLst/>
          </a:prstGeom>
          <a:noFill/>
          <a:ln>
            <a:noFill/>
          </a:ln>
        </p:spPr>
        <p:txBody>
          <a:bodyPr wrap="square" lIns="91440" tIns="73152" rIns="91440" bIns="73152"/>
          <a:lstStyle/>
          <a:p>
            <a:r>
              <a:rPr lang="en-US" sz="2850" b="1">
                <a:solidFill>
                  <a:srgbClr val="0F172A"/>
                </a:solidFill>
              </a:rPr>
              <a:t>Rencipe Phase 1 Demo Plan</a:t>
            </a:r>
            <a:endParaRPr lang="en-US"/>
          </a:p>
        </p:txBody>
      </p:sp>
      <p:sp>
        <p:nvSpPr>
          <p:cNvPr id="3" name="Subtitle"/>
          <p:cNvSpPr txBox="1"/>
          <p:nvPr/>
        </p:nvSpPr>
        <p:spPr>
          <a:xfrm>
            <a:off x="457200" y="768096"/>
            <a:ext cx="7863840" cy="310896"/>
          </a:xfrm>
          <a:prstGeom prst="rect">
            <a:avLst/>
          </a:prstGeom>
          <a:noFill/>
          <a:ln>
            <a:noFill/>
          </a:ln>
        </p:spPr>
        <p:txBody>
          <a:bodyPr wrap="square" lIns="91440" tIns="73152" rIns="91440" bIns="73152"/>
          <a:lstStyle/>
          <a:p>
            <a:r>
              <a:rPr lang="en-US" sz="1250">
                <a:solidFill>
                  <a:srgbClr val="475569"/>
                </a:solidFill>
              </a:rPr>
              <a:t>Recipe basics, search, settings, and meal planning walkthrough with fresh screenshots</a:t>
            </a:r>
            <a:endParaRPr lang="en-US"/>
          </a:p>
        </p:txBody>
      </p:sp>
      <p:sp>
        <p:nvSpPr>
          <p:cNvPr id="4" name="Time"/>
          <p:cNvSpPr txBox="1"/>
          <p:nvPr/>
        </p:nvSpPr>
        <p:spPr>
          <a:xfrm>
            <a:off x="9253728" y="749808"/>
            <a:ext cx="1417320" cy="320040"/>
          </a:xfrm>
          <a:prstGeom prst="roundRect">
            <a:avLst/>
          </a:prstGeom>
          <a:solidFill>
            <a:srgbClr val="EAF2FF"/>
          </a:solidFill>
          <a:ln>
            <a:noFill/>
          </a:ln>
        </p:spPr>
        <p:txBody>
          <a:bodyPr wrap="square" anchor="ctr" lIns="91440" tIns="45720" rIns="91440" bIns="45720"/>
          <a:lstStyle/>
          <a:p>
            <a:pPr algn="ctr"/>
            <a:r>
              <a:rPr lang="en-US" sz="1150" b="1">
                <a:solidFill>
                  <a:srgbClr val="2563EB"/>
                </a:solidFill>
              </a:rPr>
              <a:t>0:00-0:45</a:t>
            </a:r>
            <a:endParaRPr lang="en-US"/>
          </a:p>
        </p:txBody>
      </p:sp>
      <p:sp>
        <p:nvSpPr>
          <p:cNvPr id="5" name="Main content"/>
          <p:cNvSpPr txBox="1"/>
          <p:nvPr/>
        </p:nvSpPr>
        <p:spPr>
          <a:xfrm>
            <a:off x="530352" y="1325880"/>
            <a:ext cx="5349240" cy="4370832"/>
          </a:xfrm>
          <a:prstGeom prst="rect">
            <a:avLst/>
          </a:prstGeom>
          <a:noFill/>
          <a:ln>
            <a:noFill/>
          </a:ln>
        </p:spPr>
        <p:txBody>
          <a:bodyPr wrap="square" lIns="91440" tIns="73152" rIns="91440" bIns="73152"/>
          <a:lstStyle/>
          <a:p>
            <a:r>
              <a:rPr lang="en-US" sz="1440" b="1">
                <a:solidFill>
                  <a:srgbClr val="0F172A"/>
                </a:solidFill>
              </a:rPr>
              <a:t>0:00-0:45
Key message:
- Rencipe connects recipe discovery, saving, cart collection, and day-by-day household meal planning.
- The walkthrough follows the same order as the live presentation.</a:t>
            </a:r>
            <a:endParaRPr lang="en-US"/>
          </a:p>
          <a:p>
            <a:r>
              <a:rPr lang="en-US" sz="1320">
                <a:solidFill>
                  <a:srgbClr val="334155"/>
                </a:solidFill>
              </a:rPr>
              <a:t/>
            </a:r>
            <a:endParaRPr lang="en-US"/>
          </a:p>
          <a:p>
            <a:r>
              <a:rPr lang="en-US" sz="1320">
                <a:solidFill>
                  <a:srgbClr val="334155"/>
                </a:solidFill>
              </a:rPr>
              <a:t/>
            </a:r>
            <a:endParaRPr lang="en-US"/>
          </a:p>
          <a:p>
            <a:r>
              <a:rPr lang="en-US" sz="700"/>
              <a:t/>
            </a:r>
          </a:p>
          <a:p>
            <a:r>
              <a:rPr lang="en-US" sz="1440" b="1">
                <a:solidFill>
                  <a:srgbClr val="0F172A"/>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p:txBody>
      </p:sp>
      <p:sp>
        <p:nvSpPr>
          <p:cNvPr id="20" name="Footer"/>
          <p:cNvSpPr txBox="1"/>
          <p:nvPr/>
        </p:nvSpPr>
        <p:spPr>
          <a:xfrm>
            <a:off x="530352" y="5833872"/>
            <a:ext cx="4572000" cy="201168"/>
          </a:xfrm>
          <a:prstGeom prst="rect">
            <a:avLst/>
          </a:prstGeom>
          <a:noFill/>
          <a:ln>
            <a:noFill/>
          </a:ln>
        </p:spPr>
        <p:txBody>
          <a:bodyPr wrap="square" lIns="91440" tIns="73152" rIns="91440" bIns="73152"/>
          <a:lstStyle/>
          <a:p>
            <a:r>
              <a:rPr lang="en-US" sz="850">
                <a:solidFill>
                  <a:srgbClr val="94A3B8"/>
                </a:solidFill>
              </a:rPr>
              <a:t>Slide 1 of 12 | Rencipe Phase 1 demo plan</a:t>
            </a:r>
            <a:endParaRPr lang="en-US"/>
          </a:p>
        </p:txBody>
      </p:sp>
      <p:pic>
        <p:nvPicPr>
          <p:cNvPr id="21" name="ppt-home.png"/>
          <p:cNvPicPr>
            <a:picLocks noChangeAspect="1"/>
          </p:cNvPicPr>
          <p:nvPr/>
        </p:nvPicPr>
        <p:blipFill>
          <a:blip r:embed="rId2"/>
          <a:stretch>
            <a:fillRect/>
          </a:stretch>
        </p:blipFill>
        <p:spPr>
          <a:xfrm>
            <a:off x="7083566" y="1143000"/>
            <a:ext cx="2154907" cy="4663440"/>
          </a:xfrm>
          <a:prstGeom prst="rect">
            <a:avLst/>
          </a:prstGeom>
          <a:ln w="9525">
            <a:solidFill>
              <a:srgbClr val="CBD5E1"/>
            </a:solidFill>
          </a:ln>
        </p:spPr>
      </p:pic>
    </p:spTree>
  </p:cSld>
  <p:clrMapOvr>
    <a:masterClrMapping/>
  </p:clrMapOvr>
</p:sld>
</file>

<file path=ppt/slides/slide2.xml><?xml version="1.0" encoding="utf-8"?>
<p:sld xmlns:a="http://schemas.openxmlformats.org/drawingml/2006/main"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p:cNvSpPr txBox="1"/>
          <p:nvPr/>
        </p:nvSpPr>
        <p:spPr>
          <a:xfrm>
            <a:off x="457200" y="256032"/>
            <a:ext cx="8869680" cy="475488"/>
          </a:xfrm>
          <a:prstGeom prst="rect">
            <a:avLst/>
          </a:prstGeom>
          <a:noFill/>
          <a:ln>
            <a:noFill/>
          </a:ln>
        </p:spPr>
        <p:txBody>
          <a:bodyPr wrap="square" lIns="91440" tIns="73152" rIns="91440" bIns="73152"/>
          <a:lstStyle/>
          <a:p>
            <a:r>
              <a:rPr lang="en-US" sz="2850" b="1">
                <a:solidFill>
                  <a:srgbClr val="0F172A"/>
                </a:solidFill>
              </a:rPr>
              <a:t>Background, Motivation, and Problem</a:t>
            </a:r>
            <a:endParaRPr lang="en-US"/>
          </a:p>
        </p:txBody>
      </p:sp>
      <p:sp>
        <p:nvSpPr>
          <p:cNvPr id="3" name="Subtitle"/>
          <p:cNvSpPr txBox="1"/>
          <p:nvPr/>
        </p:nvSpPr>
        <p:spPr>
          <a:xfrm>
            <a:off x="457200" y="768096"/>
            <a:ext cx="7863840" cy="310896"/>
          </a:xfrm>
          <a:prstGeom prst="rect">
            <a:avLst/>
          </a:prstGeom>
          <a:noFill/>
          <a:ln>
            <a:noFill/>
          </a:ln>
        </p:spPr>
        <p:txBody>
          <a:bodyPr wrap="square" lIns="91440" tIns="73152" rIns="91440" bIns="73152"/>
          <a:lstStyle/>
          <a:p>
            <a:r>
              <a:rPr lang="en-US" sz="1250">
                <a:solidFill>
                  <a:srgbClr val="475569"/>
                </a:solidFill>
              </a:rPr>
              <a:t>Why this project exists</a:t>
            </a:r>
            <a:endParaRPr lang="en-US"/>
          </a:p>
        </p:txBody>
      </p:sp>
      <p:sp>
        <p:nvSpPr>
          <p:cNvPr id="4" name="Time"/>
          <p:cNvSpPr txBox="1"/>
          <p:nvPr/>
        </p:nvSpPr>
        <p:spPr>
          <a:xfrm>
            <a:off x="9253728" y="749808"/>
            <a:ext cx="1417320" cy="320040"/>
          </a:xfrm>
          <a:prstGeom prst="roundRect">
            <a:avLst/>
          </a:prstGeom>
          <a:solidFill>
            <a:srgbClr val="EAF2FF"/>
          </a:solidFill>
          <a:ln>
            <a:noFill/>
          </a:ln>
        </p:spPr>
        <p:txBody>
          <a:bodyPr wrap="square" anchor="ctr" lIns="91440" tIns="45720" rIns="91440" bIns="45720"/>
          <a:lstStyle/>
          <a:p>
            <a:pPr algn="ctr"/>
            <a:r>
              <a:rPr lang="en-US" sz="1150" b="1">
                <a:solidFill>
                  <a:srgbClr val="2563EB"/>
                </a:solidFill>
              </a:rPr>
              <a:t>0:45-2:15</a:t>
            </a:r>
            <a:endParaRPr lang="en-US"/>
          </a:p>
        </p:txBody>
      </p:sp>
      <p:sp>
        <p:nvSpPr>
          <p:cNvPr id="5" name="Main content"/>
          <p:cNvSpPr txBox="1"/>
          <p:nvPr/>
        </p:nvSpPr>
        <p:spPr>
          <a:xfrm>
            <a:off x="530352" y="1325880"/>
            <a:ext cx="10012680" cy="4370832"/>
          </a:xfrm>
          <a:prstGeom prst="rect">
            <a:avLst/>
          </a:prstGeom>
          <a:noFill/>
          <a:ln>
            <a:noFill/>
          </a:ln>
        </p:spPr>
        <p:txBody>
          <a:bodyPr wrap="square" lIns="91440" tIns="73152" rIns="91440" bIns="73152"/>
          <a:lstStyle/>
          <a:p>
            <a:r>
              <a:rPr lang="en-US" sz="1440" b="1">
                <a:solidFill>
                  <a:srgbClr val="0F172A"/>
                </a:solidFill>
              </a:rPr>
              <a:t>Background:
- Recipes are scattered across sites, videos, notes, and family habits.
- Most tools help users browse recipes, but do not connect them to the question: what should we eat this week?
Problem:
- Weekly planning, grocery prep, and schedule decisions are still mostly manual.
- Households need one flow from recipe to saved list, cart, meal plan, and schedule.
Significance:
- Reduce planning chaos.
- Save grocery-shopping time.
- Support healthier repeatable meals.</a:t>
            </a:r>
            <a:endParaRPr lang="en-US"/>
          </a:p>
          <a:p>
            <a:r>
              <a:rPr lang="en-US" sz="1320">
                <a:solidFill>
                  <a:srgbClr val="334155"/>
                </a:solidFill>
              </a:rPr>
              <a:t/>
            </a:r>
            <a:endParaRPr lang="en-US"/>
          </a:p>
          <a:p>
            <a:r>
              <a:rPr lang="en-US" sz="1320">
                <a:solidFill>
                  <a:srgbClr val="334155"/>
                </a:solidFill>
              </a:rPr>
              <a:t/>
            </a:r>
            <a:endParaRPr lang="en-US"/>
          </a:p>
          <a:p>
            <a:r>
              <a:rPr lang="en-US" sz="700"/>
              <a:t/>
            </a:r>
          </a:p>
          <a:p>
            <a:r>
              <a:rPr lang="en-US" sz="1440" b="1">
                <a:solidFill>
                  <a:srgbClr val="0F172A"/>
                </a:solidFill>
              </a:rPr>
              <a:t/>
            </a:r>
            <a:endParaRPr lang="en-US"/>
          </a:p>
          <a:p>
            <a:r>
              <a:rPr lang="en-US" sz="1320">
                <a:solidFill>
                  <a:srgbClr val="334155"/>
                </a:solidFill>
              </a:rPr>
              <a:t/>
            </a:r>
            <a:endParaRPr lang="en-US"/>
          </a:p>
          <a:p>
            <a:r>
              <a:rPr lang="en-US" sz="1320">
                <a:solidFill>
                  <a:srgbClr val="334155"/>
                </a:solidFill>
              </a:rPr>
              <a:t/>
            </a:r>
            <a:endParaRPr lang="en-US"/>
          </a:p>
          <a:p>
            <a:r>
              <a:rPr lang="en-US" sz="700"/>
              <a:t/>
            </a:r>
          </a:p>
          <a:p>
            <a:r>
              <a:rPr lang="en-US" sz="1440" b="1">
                <a:solidFill>
                  <a:srgbClr val="0F172A"/>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p:txBody>
      </p:sp>
      <p:sp>
        <p:nvSpPr>
          <p:cNvPr id="20" name="Footer"/>
          <p:cNvSpPr txBox="1"/>
          <p:nvPr/>
        </p:nvSpPr>
        <p:spPr>
          <a:xfrm>
            <a:off x="530352" y="5833872"/>
            <a:ext cx="4572000" cy="201168"/>
          </a:xfrm>
          <a:prstGeom prst="rect">
            <a:avLst/>
          </a:prstGeom>
          <a:noFill/>
          <a:ln>
            <a:noFill/>
          </a:ln>
        </p:spPr>
        <p:txBody>
          <a:bodyPr wrap="square" lIns="91440" tIns="73152" rIns="91440" bIns="73152"/>
          <a:lstStyle/>
          <a:p>
            <a:r>
              <a:rPr lang="en-US" sz="850">
                <a:solidFill>
                  <a:srgbClr val="94A3B8"/>
                </a:solidFill>
              </a:rPr>
              <a:t>Slide 2 of 12 | Rencipe Phase 1 demo plan</a:t>
            </a:r>
            <a:endParaRPr lang="en-US"/>
          </a:p>
        </p:txBody>
      </p:sp>
    </p:spTree>
  </p:cSld>
  <p:clrMapOvr>
    <a:masterClrMapping/>
  </p:clrMapOvr>
</p:sld>
</file>

<file path=ppt/slides/slide3.xml><?xml version="1.0" encoding="utf-8"?>
<p:sld xmlns:a="http://schemas.openxmlformats.org/drawingml/2006/main"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p:cNvSpPr txBox="1"/>
          <p:nvPr/>
        </p:nvSpPr>
        <p:spPr>
          <a:xfrm>
            <a:off x="457200" y="256032"/>
            <a:ext cx="8869680" cy="475488"/>
          </a:xfrm>
          <a:prstGeom prst="rect">
            <a:avLst/>
          </a:prstGeom>
          <a:noFill/>
          <a:ln>
            <a:noFill/>
          </a:ln>
        </p:spPr>
        <p:txBody>
          <a:bodyPr wrap="square" lIns="91440" tIns="73152" rIns="91440" bIns="73152"/>
          <a:lstStyle/>
          <a:p>
            <a:r>
              <a:rPr lang="en-US" sz="2850" b="1">
                <a:solidFill>
                  <a:srgbClr val="0F172A"/>
                </a:solidFill>
              </a:rPr>
              <a:t>Demo-Ready Feature Inventory</a:t>
            </a:r>
            <a:endParaRPr lang="en-US"/>
          </a:p>
        </p:txBody>
      </p:sp>
      <p:sp>
        <p:nvSpPr>
          <p:cNvPr id="3" name="Subtitle"/>
          <p:cNvSpPr txBox="1"/>
          <p:nvPr/>
        </p:nvSpPr>
        <p:spPr>
          <a:xfrm>
            <a:off x="457200" y="768096"/>
            <a:ext cx="7863840" cy="310896"/>
          </a:xfrm>
          <a:prstGeom prst="rect">
            <a:avLst/>
          </a:prstGeom>
          <a:noFill/>
          <a:ln>
            <a:noFill/>
          </a:ln>
        </p:spPr>
        <p:txBody>
          <a:bodyPr wrap="square" lIns="91440" tIns="73152" rIns="91440" bIns="73152"/>
          <a:lstStyle/>
          <a:p>
            <a:r>
              <a:rPr lang="en-US" sz="1250">
                <a:solidFill>
                  <a:srgbClr val="475569"/>
                </a:solidFill>
              </a:rPr>
              <a:t>What is ready to show now</a:t>
            </a:r>
            <a:endParaRPr lang="en-US"/>
          </a:p>
        </p:txBody>
      </p:sp>
      <p:sp>
        <p:nvSpPr>
          <p:cNvPr id="4" name="Time"/>
          <p:cNvSpPr txBox="1"/>
          <p:nvPr/>
        </p:nvSpPr>
        <p:spPr>
          <a:xfrm>
            <a:off x="9253728" y="749808"/>
            <a:ext cx="1417320" cy="320040"/>
          </a:xfrm>
          <a:prstGeom prst="roundRect">
            <a:avLst/>
          </a:prstGeom>
          <a:solidFill>
            <a:srgbClr val="EAF2FF"/>
          </a:solidFill>
          <a:ln>
            <a:noFill/>
          </a:ln>
        </p:spPr>
        <p:txBody>
          <a:bodyPr wrap="square" anchor="ctr" lIns="91440" tIns="45720" rIns="91440" bIns="45720"/>
          <a:lstStyle/>
          <a:p>
            <a:pPr algn="ctr"/>
            <a:r>
              <a:rPr lang="en-US" sz="1150" b="1">
                <a:solidFill>
                  <a:srgbClr val="2563EB"/>
                </a:solidFill>
              </a:rPr>
              <a:t>2:15-3:45</a:t>
            </a:r>
            <a:endParaRPr lang="en-US"/>
          </a:p>
        </p:txBody>
      </p:sp>
      <p:sp>
        <p:nvSpPr>
          <p:cNvPr id="5" name="Main content"/>
          <p:cNvSpPr txBox="1"/>
          <p:nvPr/>
        </p:nvSpPr>
        <p:spPr>
          <a:xfrm>
            <a:off x="530352" y="1325880"/>
            <a:ext cx="10012680" cy="4370832"/>
          </a:xfrm>
          <a:prstGeom prst="rect">
            <a:avLst/>
          </a:prstGeom>
          <a:noFill/>
          <a:ln>
            <a:noFill/>
          </a:ln>
        </p:spPr>
        <p:txBody>
          <a:bodyPr wrap="square" lIns="91440" tIns="73152" rIns="91440" bIns="73152"/>
          <a:lstStyle/>
          <a:p>
            <a:r>
              <a:rPr lang="en-US" sz="1440" b="1">
                <a:solidFill>
                  <a:srgbClr val="0F172A"/>
                </a:solidFill>
              </a:rPr>
              <a:t>Ready features:
- Backend login with demo users: admin/admin and testuser1/testuser1.
- Recipe visibility: public recipes for users, admin-private recipes for admin.
- Recipe browse, search, detail, create, edit, drafts, saved recipes, and cart.
- Meal Plans now plan what to eat by day and meal, with multiple recipes per meal.
- Public deployment runs through Nginx, SSL/TLS, PM2, frontend 4000, backend 6000.</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p:txBody>
      </p:sp>
      <p:sp>
        <p:nvSpPr>
          <p:cNvPr id="20" name="Footer"/>
          <p:cNvSpPr txBox="1"/>
          <p:nvPr/>
        </p:nvSpPr>
        <p:spPr>
          <a:xfrm>
            <a:off x="530352" y="5833872"/>
            <a:ext cx="4572000" cy="201168"/>
          </a:xfrm>
          <a:prstGeom prst="rect">
            <a:avLst/>
          </a:prstGeom>
          <a:noFill/>
          <a:ln>
            <a:noFill/>
          </a:ln>
        </p:spPr>
        <p:txBody>
          <a:bodyPr wrap="square" lIns="91440" tIns="73152" rIns="91440" bIns="73152"/>
          <a:lstStyle/>
          <a:p>
            <a:r>
              <a:rPr lang="en-US" sz="850">
                <a:solidFill>
                  <a:srgbClr val="94A3B8"/>
                </a:solidFill>
              </a:rPr>
              <a:t>Slide 3 of 12 | Rencipe Phase 1 demo plan</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p:cNvSpPr txBox="1"/>
          <p:nvPr/>
        </p:nvSpPr>
        <p:spPr>
          <a:xfrm>
            <a:off x="457200" y="256032"/>
            <a:ext cx="8869680" cy="475488"/>
          </a:xfrm>
          <a:prstGeom prst="rect">
            <a:avLst/>
          </a:prstGeom>
          <a:noFill/>
          <a:ln>
            <a:noFill/>
          </a:ln>
        </p:spPr>
        <p:txBody>
          <a:bodyPr wrap="square" lIns="91440" tIns="73152" rIns="91440" bIns="73152"/>
          <a:lstStyle/>
          <a:p>
            <a:r>
              <a:rPr lang="en-US" sz="2850" b="1">
                <a:solidFill>
                  <a:srgbClr val="0F172A"/>
                </a:solidFill>
              </a:rPr>
              <a:t>System Architecture</a:t>
            </a:r>
            <a:endParaRPr lang="en-US"/>
          </a:p>
        </p:txBody>
      </p:sp>
      <p:sp>
        <p:nvSpPr>
          <p:cNvPr id="3" name="Subtitle"/>
          <p:cNvSpPr txBox="1"/>
          <p:nvPr/>
        </p:nvSpPr>
        <p:spPr>
          <a:xfrm>
            <a:off x="457200" y="768096"/>
            <a:ext cx="7863840" cy="310896"/>
          </a:xfrm>
          <a:prstGeom prst="rect">
            <a:avLst/>
          </a:prstGeom>
          <a:noFill/>
          <a:ln>
            <a:noFill/>
          </a:ln>
        </p:spPr>
        <p:txBody>
          <a:bodyPr wrap="square" lIns="91440" tIns="73152" rIns="91440" bIns="73152"/>
          <a:lstStyle/>
          <a:p>
            <a:r>
              <a:rPr lang="en-US" sz="1250">
                <a:solidFill>
                  <a:srgbClr val="475569"/>
                </a:solidFill>
              </a:rPr>
              <a:t>Approach and deployed environment</a:t>
            </a:r>
            <a:endParaRPr lang="en-US"/>
          </a:p>
        </p:txBody>
      </p:sp>
      <p:sp>
        <p:nvSpPr>
          <p:cNvPr id="4" name="Time"/>
          <p:cNvSpPr txBox="1"/>
          <p:nvPr/>
        </p:nvSpPr>
        <p:spPr>
          <a:xfrm>
            <a:off x="9253728" y="749808"/>
            <a:ext cx="1417320" cy="320040"/>
          </a:xfrm>
          <a:prstGeom prst="roundRect">
            <a:avLst/>
          </a:prstGeom>
          <a:solidFill>
            <a:srgbClr val="EAF2FF"/>
          </a:solidFill>
          <a:ln>
            <a:noFill/>
          </a:ln>
        </p:spPr>
        <p:txBody>
          <a:bodyPr wrap="square" anchor="ctr" lIns="91440" tIns="45720" rIns="91440" bIns="45720"/>
          <a:lstStyle/>
          <a:p>
            <a:pPr algn="ctr"/>
            <a:r>
              <a:rPr lang="en-US" sz="1150" b="1">
                <a:solidFill>
                  <a:srgbClr val="2563EB"/>
                </a:solidFill>
              </a:rPr>
              <a:t>3:45-5:00</a:t>
            </a:r>
            <a:endParaRPr lang="en-US"/>
          </a:p>
        </p:txBody>
      </p:sp>
      <p:sp>
        <p:nvSpPr>
          <p:cNvPr id="5" name="Main content"/>
          <p:cNvSpPr txBox="1"/>
          <p:nvPr/>
        </p:nvSpPr>
        <p:spPr>
          <a:xfrm>
            <a:off x="530352" y="1325880"/>
            <a:ext cx="10012680" cy="4370832"/>
          </a:xfrm>
          <a:prstGeom prst="rect">
            <a:avLst/>
          </a:prstGeom>
          <a:noFill/>
          <a:ln>
            <a:noFill/>
          </a:ln>
        </p:spPr>
        <p:txBody>
          <a:bodyPr wrap="square" lIns="91440" tIns="73152" rIns="91440" bIns="73152"/>
          <a:lstStyle/>
          <a:p>
            <a:r>
              <a:rPr lang="en-US" sz="1440" b="1">
                <a:solidFill>
                  <a:srgbClr val="0F172A"/>
                </a:solidFill>
              </a:rPr>
              <a:t>Runtime flow:</a:t>
            </a:r>
            <a:endParaRPr lang="en-US"/>
          </a:p>
          <a:p>
            <a:r>
              <a:rPr lang="en-US" sz="1320">
                <a:solidFill>
                  <a:srgbClr val="334155"/>
                </a:solidFill>
              </a:rPr>
              <a:t>- Browser -&gt; Nginx / SSL -&gt; Next.js frontend on port 4000.</a:t>
            </a:r>
            <a:endParaRPr lang="en-US"/>
          </a:p>
          <a:p>
            <a:r>
              <a:rPr lang="en-US" sz="1320">
                <a:solidFill>
                  <a:srgbClr val="334155"/>
                </a:solidFill>
              </a:rPr>
              <a:t>- Nginx /api proxy -&gt; Express backend on port 6000.</a:t>
            </a:r>
            <a:endParaRPr lang="en-US"/>
          </a:p>
          <a:p>
            <a:r>
              <a:rPr lang="en-US" sz="1320">
                <a:solidFill>
                  <a:srgbClr val="334155"/>
                </a:solidFill>
              </a:rPr>
              <a:t>- Backend persists recipes, users, saved recipes, drafts, and plans in MongoDB.</a:t>
            </a:r>
            <a:endParaRPr lang="en-US"/>
          </a:p>
          <a:p>
            <a:r>
              <a:rPr lang="en-US" sz="700"/>
              <a:t> </a:t>
            </a:r>
          </a:p>
          <a:p>
            <a:r>
              <a:rPr lang="en-US" sz="1440" b="1">
                <a:solidFill>
                  <a:srgbClr val="0F172A"/>
                </a:solidFill>
              </a:rPr>
              <a:t>Implementation stack:</a:t>
            </a:r>
            <a:endParaRPr lang="en-US"/>
          </a:p>
          <a:p>
            <a:r>
              <a:rPr lang="en-US" sz="1320">
                <a:solidFill>
                  <a:srgbClr val="334155"/>
                </a:solidFill>
              </a:rPr>
              <a:t>- Frontend: Next.js, React, TypeScript, CSS Modules.</a:t>
            </a:r>
            <a:endParaRPr lang="en-US"/>
          </a:p>
          <a:p>
            <a:r>
              <a:rPr lang="en-US" sz="1320">
                <a:solidFill>
                  <a:srgbClr val="334155"/>
                </a:solidFill>
              </a:rPr>
              <a:t>- Backend: Node.js, Express, TypeScript, Mongoose.</a:t>
            </a:r>
            <a:endParaRPr lang="en-US"/>
          </a:p>
          <a:p>
            <a:r>
              <a:rPr lang="en-US" sz="1320">
                <a:solidFill>
                  <a:srgbClr val="334155"/>
                </a:solidFill>
              </a:rPr>
              <a:t>- Auth: JWT session tokens with backend verification.</a:t>
            </a:r>
            <a:endParaRPr lang="en-US"/>
          </a:p>
          <a:p>
            <a:r>
              <a:rPr lang="en-US" sz="1320">
                <a:solidFill>
                  <a:srgbClr val="334155"/>
                </a:solidFill>
              </a:rPr>
              <a:t>- Deployment: Oracle VM, PM2, Nginx reverse proxy, registered domain.</a:t>
            </a:r>
            <a:endParaRPr lang="en-US"/>
          </a:p>
        </p:txBody>
      </p:sp>
      <p:sp>
        <p:nvSpPr>
          <p:cNvPr id="20" name="Footer"/>
          <p:cNvSpPr txBox="1"/>
          <p:nvPr/>
        </p:nvSpPr>
        <p:spPr>
          <a:xfrm>
            <a:off x="530352" y="5833872"/>
            <a:ext cx="4572000" cy="201168"/>
          </a:xfrm>
          <a:prstGeom prst="rect">
            <a:avLst/>
          </a:prstGeom>
          <a:noFill/>
          <a:ln>
            <a:noFill/>
          </a:ln>
        </p:spPr>
        <p:txBody>
          <a:bodyPr wrap="square" lIns="91440" tIns="73152" rIns="91440" bIns="73152"/>
          <a:lstStyle/>
          <a:p>
            <a:r>
              <a:rPr lang="en-US" sz="850">
                <a:solidFill>
                  <a:srgbClr val="94A3B8"/>
                </a:solidFill>
              </a:rPr>
              <a:t>Slide 4 of 12 | Rencipe Phase 1 demo plan</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p:cNvSpPr txBox="1"/>
          <p:nvPr/>
        </p:nvSpPr>
        <p:spPr>
          <a:xfrm>
            <a:off x="457200" y="256032"/>
            <a:ext cx="8869680" cy="475488"/>
          </a:xfrm>
          <a:prstGeom prst="rect">
            <a:avLst/>
          </a:prstGeom>
          <a:noFill/>
          <a:ln>
            <a:noFill/>
          </a:ln>
        </p:spPr>
        <p:txBody>
          <a:bodyPr wrap="square" lIns="91440" tIns="73152" rIns="91440" bIns="73152"/>
          <a:lstStyle/>
          <a:p>
            <a:r>
              <a:rPr lang="en-US" sz="2850" b="1">
                <a:solidFill>
                  <a:srgbClr val="0F172A"/>
                </a:solidFill>
              </a:rPr>
              <a:t>Demo Flow 1: Login and Role Visibility</a:t>
            </a:r>
            <a:endParaRPr lang="en-US"/>
          </a:p>
        </p:txBody>
      </p:sp>
      <p:sp>
        <p:nvSpPr>
          <p:cNvPr id="3" name="Subtitle"/>
          <p:cNvSpPr txBox="1"/>
          <p:nvPr/>
        </p:nvSpPr>
        <p:spPr>
          <a:xfrm>
            <a:off x="457200" y="768096"/>
            <a:ext cx="7863840" cy="310896"/>
          </a:xfrm>
          <a:prstGeom prst="rect">
            <a:avLst/>
          </a:prstGeom>
          <a:noFill/>
          <a:ln>
            <a:noFill/>
          </a:ln>
        </p:spPr>
        <p:txBody>
          <a:bodyPr wrap="square" lIns="91440" tIns="73152" rIns="91440" bIns="73152"/>
          <a:lstStyle/>
          <a:p>
            <a:r>
              <a:rPr lang="en-US" sz="1250">
                <a:solidFill>
                  <a:srgbClr val="475569"/>
                </a:solidFill>
              </a:rPr>
              <a:t>Start by proving access control</a:t>
            </a:r>
            <a:endParaRPr lang="en-US"/>
          </a:p>
        </p:txBody>
      </p:sp>
      <p:sp>
        <p:nvSpPr>
          <p:cNvPr id="4" name="Time"/>
          <p:cNvSpPr txBox="1"/>
          <p:nvPr/>
        </p:nvSpPr>
        <p:spPr>
          <a:xfrm>
            <a:off x="9253728" y="749808"/>
            <a:ext cx="1417320" cy="320040"/>
          </a:xfrm>
          <a:prstGeom prst="roundRect">
            <a:avLst/>
          </a:prstGeom>
          <a:solidFill>
            <a:srgbClr val="EAF2FF"/>
          </a:solidFill>
          <a:ln>
            <a:noFill/>
          </a:ln>
        </p:spPr>
        <p:txBody>
          <a:bodyPr wrap="square" anchor="ctr" lIns="91440" tIns="45720" rIns="91440" bIns="45720"/>
          <a:lstStyle/>
          <a:p>
            <a:pPr algn="ctr"/>
            <a:r>
              <a:rPr lang="en-US" sz="1150" b="1">
                <a:solidFill>
                  <a:srgbClr val="2563EB"/>
                </a:solidFill>
              </a:rPr>
              <a:t>5:00-6:45</a:t>
            </a:r>
            <a:endParaRPr lang="en-US"/>
          </a:p>
        </p:txBody>
      </p:sp>
      <p:sp>
        <p:nvSpPr>
          <p:cNvPr id="5" name="Main content"/>
          <p:cNvSpPr txBox="1"/>
          <p:nvPr/>
        </p:nvSpPr>
        <p:spPr>
          <a:xfrm>
            <a:off x="530352" y="1325880"/>
            <a:ext cx="5349240" cy="4370832"/>
          </a:xfrm>
          <a:prstGeom prst="rect">
            <a:avLst/>
          </a:prstGeom>
          <a:noFill/>
          <a:ln>
            <a:noFill/>
          </a:ln>
        </p:spPr>
        <p:txBody>
          <a:bodyPr wrap="square" lIns="91440" tIns="73152" rIns="91440" bIns="73152"/>
          <a:lstStyle/>
          <a:p>
            <a:r>
              <a:rPr lang="en-US" sz="1440" b="1">
                <a:solidFill>
                  <a:srgbClr val="0F172A"/>
                </a:solidFill>
              </a:rPr>
              <a:t>Show:</a:t>
            </a:r>
            <a:endParaRPr lang="en-US"/>
          </a:p>
          <a:p>
            <a:r>
              <a:rPr lang="en-US" sz="1320">
                <a:solidFill>
                  <a:srgbClr val="334155"/>
                </a:solidFill>
              </a:rPr>
              <a:t>- Open the concise sign-in page.</a:t>
            </a:r>
            <a:endParaRPr lang="en-US"/>
          </a:p>
          <a:p>
            <a:r>
              <a:rPr lang="en-US" sz="1320">
                <a:solidFill>
                  <a:srgbClr val="334155"/>
                </a:solidFill>
              </a:rPr>
              <a:t>- Sign in as admin/admin.</a:t>
            </a:r>
            <a:endParaRPr lang="en-US"/>
          </a:p>
          <a:p>
            <a:r>
              <a:rPr lang="en-US" sz="1320">
                <a:solidFill>
                  <a:srgbClr val="334155"/>
                </a:solidFill>
              </a:rPr>
              <a:t>- Search Admin Private and show 2 private recipes.</a:t>
            </a:r>
            <a:endParaRPr lang="en-US"/>
          </a:p>
          <a:p>
            <a:r>
              <a:rPr lang="en-US" sz="1320">
                <a:solidFill>
                  <a:srgbClr val="334155"/>
                </a:solidFill>
              </a:rPr>
              <a:t>- Sign out, sign in as testuser1/testuser1.</a:t>
            </a:r>
            <a:endParaRPr lang="en-US"/>
          </a:p>
          <a:p>
            <a:r>
              <a:rPr lang="en-US" sz="1320">
                <a:solidFill>
                  <a:srgbClr val="334155"/>
                </a:solidFill>
              </a:rPr>
              <a:t>- Search the same term and show 0 recipes.</a:t>
            </a:r>
            <a:endParaRPr lang="en-US"/>
          </a:p>
          <a:p>
            <a:r>
              <a:rPr lang="en-US" sz="700"/>
              <a:t> </a:t>
            </a:r>
          </a:p>
          <a:p>
            <a:r>
              <a:rPr lang="en-US" sz="1440" b="1">
                <a:solidFill>
                  <a:srgbClr val="0F172A"/>
                </a:solidFill>
              </a:rPr>
              <a:t>Outcome to emphasize:</a:t>
            </a:r>
            <a:endParaRPr lang="en-US"/>
          </a:p>
          <a:p>
            <a:r>
              <a:rPr lang="en-US" sz="1320">
                <a:solidFill>
                  <a:srgbClr val="334155"/>
                </a:solidFill>
              </a:rPr>
              <a:t>- Auth is backend-backed, not a local-only demo gate.</a:t>
            </a:r>
            <a:endParaRPr lang="en-US"/>
          </a:p>
          <a:p>
            <a:r>
              <a:rPr lang="en-US" sz="1320">
                <a:solidFill>
                  <a:srgbClr val="334155"/>
                </a:solidFill>
              </a:rPr>
              <a:t>- Public/private recipe visibility works in the deployed app.</a:t>
            </a:r>
            <a:endParaRPr lang="en-US"/>
          </a:p>
        </p:txBody>
      </p:sp>
      <p:pic>
        <p:nvPicPr>
          <p:cNvPr id="9" name="ppt-login.png"/>
          <p:cNvPicPr>
            <a:picLocks noChangeAspect="1"/>
          </p:cNvPicPr>
          <p:nvPr/>
        </p:nvPicPr>
        <p:blipFill>
          <a:blip r:embed="rId2"/>
          <a:stretch>
            <a:fillRect/>
          </a:stretch>
        </p:blipFill>
        <p:spPr>
          <a:xfrm>
            <a:off x="7083566" y="1143000"/>
            <a:ext cx="2154907" cy="4663440"/>
          </a:xfrm>
          <a:prstGeom prst="rect">
            <a:avLst/>
          </a:prstGeom>
          <a:ln w="9525">
            <a:solidFill>
              <a:srgbClr val="CBD5E1"/>
            </a:solidFill>
          </a:ln>
        </p:spPr>
      </p:pic>
      <p:sp>
        <p:nvSpPr>
          <p:cNvPr id="20" name="Footer"/>
          <p:cNvSpPr txBox="1"/>
          <p:nvPr/>
        </p:nvSpPr>
        <p:spPr>
          <a:xfrm>
            <a:off x="530352" y="5833872"/>
            <a:ext cx="4572000" cy="201168"/>
          </a:xfrm>
          <a:prstGeom prst="rect">
            <a:avLst/>
          </a:prstGeom>
          <a:noFill/>
          <a:ln>
            <a:noFill/>
          </a:ln>
        </p:spPr>
        <p:txBody>
          <a:bodyPr wrap="square" lIns="91440" tIns="73152" rIns="91440" bIns="73152"/>
          <a:lstStyle/>
          <a:p>
            <a:r>
              <a:rPr lang="en-US" sz="850">
                <a:solidFill>
                  <a:srgbClr val="94A3B8"/>
                </a:solidFill>
              </a:rPr>
              <a:t>Slide 5 of 12 | Rencipe Phase 1 demo plan</a:t>
            </a:r>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a:xfrm>
          <a:off x="0" y="0"/>
          <a:ext cx="0" cy="0"/>
          <a:chOff x="0" y="0"/>
          <a:chExt cx="0" cy="0"/>
        </a:xfrm>
      </p:grpSpPr>
      <p:sp>
        <p:nvSpPr>
          <p:cNvPr id="2" name="Title"/>
          <p:cNvSpPr txBox="1"/>
          <p:nvPr/>
        </p:nvSpPr>
        <p:spPr>
          <a:xfrm>
            <a:off x="457200" y="256032"/>
            <a:ext cx="8869680" cy="475488"/>
          </a:xfrm>
          <a:prstGeom prst="rect">
            <a:avLst/>
          </a:prstGeom>
          <a:noFill/>
          <a:ln>
            <a:noFill/>
          </a:ln>
        </p:spPr>
        <p:txBody>
          <a:bodyPr wrap="square" lIns="91440" tIns="73152" rIns="91440" bIns="73152"/>
          <a:lstStyle/>
          <a:p>
            <a:r>
              <a:rPr lang="en-US" sz="2850" b="1">
                <a:solidFill>
                  <a:srgbClr val="0F172A"/>
                </a:solidFill>
              </a:rPr>
              <a:t>Demo Flow 2: Homepage</a:t>
            </a:r>
            <a:endParaRPr lang="en-US"/>
          </a:p>
        </p:txBody>
      </p:sp>
      <p:sp>
        <p:nvSpPr>
          <p:cNvPr id="3" name="Subtitle"/>
          <p:cNvSpPr txBox="1"/>
          <p:nvPr/>
        </p:nvSpPr>
        <p:spPr>
          <a:xfrm>
            <a:off x="457200" y="768096"/>
            <a:ext cx="7863840" cy="310896"/>
          </a:xfrm>
          <a:prstGeom prst="rect">
            <a:avLst/>
          </a:prstGeom>
          <a:noFill/>
          <a:ln>
            <a:noFill/>
          </a:ln>
        </p:spPr>
        <p:txBody>
          <a:bodyPr wrap="square" lIns="91440" tIns="73152" rIns="91440" bIns="73152"/>
          <a:lstStyle/>
          <a:p>
            <a:r>
              <a:rPr lang="en-US" sz="1250">
                <a:solidFill>
                  <a:srgbClr val="475569"/>
                </a:solidFill>
              </a:rPr>
              <a:t>Start the recipe basics walkthrough</a:t>
            </a:r>
            <a:endParaRPr lang="en-US"/>
          </a:p>
        </p:txBody>
      </p:sp>
      <p:sp>
        <p:nvSpPr>
          <p:cNvPr id="4" name="Time"/>
          <p:cNvSpPr txBox="1"/>
          <p:nvPr/>
        </p:nvSpPr>
        <p:spPr>
          <a:xfrm>
            <a:off x="9253728" y="749808"/>
            <a:ext cx="1417320" cy="320040"/>
          </a:xfrm>
          <a:prstGeom prst="roundRect">
            <a:avLst/>
          </a:prstGeom>
          <a:solidFill>
            <a:srgbClr val="EAF2FF"/>
          </a:solidFill>
          <a:ln>
            <a:noFill/>
          </a:ln>
        </p:spPr>
        <p:txBody>
          <a:bodyPr wrap="square" anchor="ctr" lIns="91440" tIns="45720" rIns="91440" bIns="45720"/>
          <a:lstStyle/>
          <a:p>
            <a:pPr algn="ctr"/>
            <a:r>
              <a:rPr lang="en-US" sz="1150" b="1">
                <a:solidFill>
                  <a:srgbClr val="2563EB"/>
                </a:solidFill>
              </a:rPr>
              <a:t>6:45-8:15</a:t>
            </a:r>
            <a:endParaRPr lang="en-US"/>
          </a:p>
        </p:txBody>
      </p:sp>
      <p:sp>
        <p:nvSpPr>
          <p:cNvPr id="5" name="Main content"/>
          <p:cNvSpPr txBox="1"/>
          <p:nvPr/>
        </p:nvSpPr>
        <p:spPr>
          <a:xfrm>
            <a:off x="530352" y="1325880"/>
            <a:ext cx="5349240" cy="4370832"/>
          </a:xfrm>
          <a:prstGeom prst="rect">
            <a:avLst/>
          </a:prstGeom>
          <a:noFill/>
          <a:ln>
            <a:noFill/>
          </a:ln>
        </p:spPr>
        <p:txBody>
          <a:bodyPr wrap="square" lIns="91440" tIns="73152" rIns="91440" bIns="73152"/>
          <a:lstStyle/>
          <a:p>
            <a:r>
              <a:rPr lang="en-US" sz="1440" b="1">
                <a:solidFill>
                  <a:srgbClr val="0F172A"/>
                </a:solidFill>
              </a:rPr>
              <a:t>Show:
1. Open the homepage.
2. Point out recipe cards, real food images, uploader avatar/name, save, and cart actions.
3. Use this as the first screen in the recipe-basic story.
Talk about:
- The app is phone-first, visual, and built for quick recipe discovery.</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700"/>
              <a:t/>
            </a:r>
          </a:p>
          <a:p>
            <a:r>
              <a:rPr lang="en-US" sz="1440" b="1">
                <a:solidFill>
                  <a:srgbClr val="0F172A"/>
                </a:solidFill>
              </a:rPr>
              <a:t/>
            </a:r>
            <a:endParaRPr lang="en-US"/>
          </a:p>
          <a:p>
            <a:r>
              <a:rPr lang="en-US" sz="1320">
                <a:solidFill>
                  <a:srgbClr val="334155"/>
                </a:solidFill>
              </a:rPr>
              <a:t/>
            </a:r>
            <a:endParaRPr lang="en-US"/>
          </a:p>
          <a:p>
            <a:r>
              <a:rPr lang="en-US" sz="1320">
                <a:solidFill>
                  <a:srgbClr val="334155"/>
                </a:solidFill>
              </a:rPr>
              <a:t/>
            </a:r>
            <a:endParaRPr lang="en-US"/>
          </a:p>
        </p:txBody>
      </p:sp>
      <p:sp>
        <p:nvSpPr>
          <p:cNvPr id="20" name="Footer"/>
          <p:cNvSpPr txBox="1"/>
          <p:nvPr/>
        </p:nvSpPr>
        <p:spPr>
          <a:xfrm>
            <a:off x="530352" y="5833872"/>
            <a:ext cx="4572000" cy="201168"/>
          </a:xfrm>
          <a:prstGeom prst="rect">
            <a:avLst/>
          </a:prstGeom>
          <a:noFill/>
          <a:ln>
            <a:noFill/>
          </a:ln>
        </p:spPr>
        <p:txBody>
          <a:bodyPr wrap="square" lIns="91440" tIns="73152" rIns="91440" bIns="73152"/>
          <a:lstStyle/>
          <a:p>
            <a:r>
              <a:rPr lang="en-US" sz="850">
                <a:solidFill>
                  <a:srgbClr val="94A3B8"/>
                </a:solidFill>
              </a:rPr>
              <a:t>Slide 6 of 12 | Rencipe Phase 1 demo plan</a:t>
            </a:r>
            <a:endParaRPr lang="en-US"/>
          </a:p>
        </p:txBody>
      </p:sp>
      <p:pic>
        <p:nvPicPr>
          <p:cNvPr id="21" name="ppt-home.png"/>
          <p:cNvPicPr>
            <a:picLocks noChangeAspect="1"/>
          </p:cNvPicPr>
          <p:nvPr/>
        </p:nvPicPr>
        <p:blipFill>
          <a:blip r:embed="rId2"/>
          <a:stretch>
            <a:fillRect/>
          </a:stretch>
        </p:blipFill>
        <p:spPr>
          <a:xfrm>
            <a:off x="7083566" y="1143000"/>
            <a:ext cx="2154907" cy="4663440"/>
          </a:xfrm>
          <a:prstGeom prst="rect">
            <a:avLst/>
          </a:prstGeom>
          <a:ln w="9525">
            <a:solidFill>
              <a:srgbClr val="CBD5E1"/>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a:xfrm>
          <a:off x="0" y="0"/>
          <a:ext cx="0" cy="0"/>
          <a:chOff x="0" y="0"/>
          <a:chExt cx="0" cy="0"/>
        </a:xfrm>
      </p:grpSpPr>
      <p:sp>
        <p:nvSpPr>
          <p:cNvPr id="2" name="Title"/>
          <p:cNvSpPr txBox="1"/>
          <p:nvPr/>
        </p:nvSpPr>
        <p:spPr>
          <a:xfrm>
            <a:off x="457200" y="256032"/>
            <a:ext cx="8869680" cy="475488"/>
          </a:xfrm>
          <a:prstGeom prst="rect">
            <a:avLst/>
          </a:prstGeom>
          <a:noFill/>
          <a:ln>
            <a:noFill/>
          </a:ln>
        </p:spPr>
        <p:txBody>
          <a:bodyPr wrap="square" lIns="91440" tIns="73152" rIns="91440" bIns="73152"/>
          <a:lstStyle/>
          <a:p>
            <a:r>
              <a:rPr lang="en-US" sz="2850" b="1">
                <a:solidFill>
                  <a:srgbClr val="0F172A"/>
                </a:solidFill>
              </a:rPr>
              <a:t>Demo Flow 3: Search Page and Searched View</a:t>
            </a:r>
            <a:endParaRPr lang="en-US"/>
          </a:p>
        </p:txBody>
      </p:sp>
      <p:sp>
        <p:nvSpPr>
          <p:cNvPr id="3" name="Subtitle"/>
          <p:cNvSpPr txBox="1"/>
          <p:nvPr/>
        </p:nvSpPr>
        <p:spPr>
          <a:xfrm>
            <a:off x="457200" y="768096"/>
            <a:ext cx="7863840" cy="310896"/>
          </a:xfrm>
          <a:prstGeom prst="rect">
            <a:avLst/>
          </a:prstGeom>
          <a:noFill/>
          <a:ln>
            <a:noFill/>
          </a:ln>
        </p:spPr>
        <p:txBody>
          <a:bodyPr wrap="square" lIns="91440" tIns="73152" rIns="91440" bIns="73152"/>
          <a:lstStyle/>
          <a:p>
            <a:r>
              <a:rPr lang="en-US" sz="1250">
                <a:solidFill>
                  <a:srgbClr val="475569"/>
                </a:solidFill>
              </a:rPr>
              <a:t>Search before opening a recipe</a:t>
            </a:r>
            <a:endParaRPr lang="en-US"/>
          </a:p>
        </p:txBody>
      </p:sp>
      <p:sp>
        <p:nvSpPr>
          <p:cNvPr id="4" name="Time"/>
          <p:cNvSpPr txBox="1"/>
          <p:nvPr/>
        </p:nvSpPr>
        <p:spPr>
          <a:xfrm>
            <a:off x="9253728" y="749808"/>
            <a:ext cx="1417320" cy="320040"/>
          </a:xfrm>
          <a:prstGeom prst="roundRect">
            <a:avLst/>
          </a:prstGeom>
          <a:solidFill>
            <a:srgbClr val="EAF2FF"/>
          </a:solidFill>
          <a:ln>
            <a:noFill/>
          </a:ln>
        </p:spPr>
        <p:txBody>
          <a:bodyPr wrap="square" anchor="ctr" lIns="91440" tIns="45720" rIns="91440" bIns="45720"/>
          <a:lstStyle/>
          <a:p>
            <a:pPr algn="ctr"/>
            <a:r>
              <a:rPr lang="en-US" sz="1150" b="1">
                <a:solidFill>
                  <a:srgbClr val="2563EB"/>
                </a:solidFill>
              </a:rPr>
              <a:t>8:15-10:15</a:t>
            </a:r>
            <a:endParaRPr lang="en-US"/>
          </a:p>
        </p:txBody>
      </p:sp>
      <p:sp>
        <p:nvSpPr>
          <p:cNvPr id="5" name="Main content"/>
          <p:cNvSpPr txBox="1"/>
          <p:nvPr/>
        </p:nvSpPr>
        <p:spPr>
          <a:xfrm>
            <a:off x="530352" y="1325880"/>
            <a:ext cx="5349240" cy="4370832"/>
          </a:xfrm>
          <a:prstGeom prst="rect">
            <a:avLst/>
          </a:prstGeom>
          <a:noFill/>
          <a:ln>
            <a:noFill/>
          </a:ln>
        </p:spPr>
        <p:txBody>
          <a:bodyPr wrap="square" lIns="91440" tIns="73152" rIns="91440" bIns="73152"/>
          <a:lstStyle/>
          <a:p>
            <a:r>
              <a:rPr lang="en-US" sz="1440" b="1">
                <a:solidFill>
                  <a:srgbClr val="0F172A"/>
                </a:solidFill>
              </a:rPr>
              <a:t>Show:
1. Open the Search page.
2. Type miso and show the searched view.
3. Point out the matching recipe card, uploader avatar, and cart/save state.
Talk about:
- Search supports live filtering, history, recommendations, and pinyin-friendly matching.</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700"/>
              <a:t/>
            </a:r>
          </a:p>
          <a:p>
            <a:r>
              <a:rPr lang="en-US" sz="1440" b="1">
                <a:solidFill>
                  <a:srgbClr val="0F172A"/>
                </a:solidFill>
              </a:rPr>
              <a:t/>
            </a:r>
            <a:endParaRPr lang="en-US"/>
          </a:p>
          <a:p>
            <a:r>
              <a:rPr lang="en-US" sz="1320">
                <a:solidFill>
                  <a:srgbClr val="334155"/>
                </a:solidFill>
              </a:rPr>
              <a:t/>
            </a:r>
            <a:endParaRPr lang="en-US"/>
          </a:p>
          <a:p>
            <a:r>
              <a:rPr lang="en-US" sz="1320">
                <a:solidFill>
                  <a:srgbClr val="334155"/>
                </a:solidFill>
              </a:rPr>
              <a:t/>
            </a:r>
            <a:endParaRPr lang="en-US"/>
          </a:p>
        </p:txBody>
      </p:sp>
      <p:sp>
        <p:nvSpPr>
          <p:cNvPr id="20" name="Footer"/>
          <p:cNvSpPr txBox="1"/>
          <p:nvPr/>
        </p:nvSpPr>
        <p:spPr>
          <a:xfrm>
            <a:off x="530352" y="5833872"/>
            <a:ext cx="4572000" cy="201168"/>
          </a:xfrm>
          <a:prstGeom prst="rect">
            <a:avLst/>
          </a:prstGeom>
          <a:noFill/>
          <a:ln>
            <a:noFill/>
          </a:ln>
        </p:spPr>
        <p:txBody>
          <a:bodyPr wrap="square" lIns="91440" tIns="73152" rIns="91440" bIns="73152"/>
          <a:lstStyle/>
          <a:p>
            <a:r>
              <a:rPr lang="en-US" sz="850">
                <a:solidFill>
                  <a:srgbClr val="94A3B8"/>
                </a:solidFill>
              </a:rPr>
              <a:t>Slide 7 of 12 | Rencipe Phase 1 demo plan</a:t>
            </a:r>
            <a:endParaRPr lang="en-US"/>
          </a:p>
        </p:txBody>
      </p:sp>
      <p:pic>
        <p:nvPicPr>
          <p:cNvPr id="21" name="ppt-search.png"/>
          <p:cNvPicPr>
            <a:picLocks noChangeAspect="1"/>
          </p:cNvPicPr>
          <p:nvPr/>
        </p:nvPicPr>
        <p:blipFill>
          <a:blip r:embed="rId2"/>
          <a:stretch>
            <a:fillRect/>
          </a:stretch>
        </p:blipFill>
        <p:spPr>
          <a:xfrm>
            <a:off x="5972256" y="1207008"/>
            <a:ext cx="2091527" cy="4526280"/>
          </a:xfrm>
          <a:prstGeom prst="rect">
            <a:avLst/>
          </a:prstGeom>
          <a:ln w="9525">
            <a:solidFill>
              <a:srgbClr val="CBD5E1"/>
            </a:solidFill>
          </a:ln>
        </p:spPr>
      </p:pic>
      <p:pic>
        <p:nvPicPr>
          <p:cNvPr id="22" name="ppt-search-results.png"/>
          <p:cNvPicPr>
            <a:picLocks noChangeAspect="1"/>
          </p:cNvPicPr>
          <p:nvPr/>
        </p:nvPicPr>
        <p:blipFill>
          <a:blip r:embed="rId3"/>
          <a:stretch>
            <a:fillRect/>
          </a:stretch>
        </p:blipFill>
        <p:spPr>
          <a:xfrm>
            <a:off x="8303976" y="1207008"/>
            <a:ext cx="2091527" cy="4526280"/>
          </a:xfrm>
          <a:prstGeom prst="rect">
            <a:avLst/>
          </a:prstGeom>
          <a:ln w="9525">
            <a:solidFill>
              <a:srgbClr val="CBD5E1"/>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a:xfrm>
          <a:off x="0" y="0"/>
          <a:ext cx="0" cy="0"/>
          <a:chOff x="0" y="0"/>
          <a:chExt cx="0" cy="0"/>
        </a:xfrm>
      </p:grpSpPr>
      <p:sp>
        <p:nvSpPr>
          <p:cNvPr id="2" name="Title"/>
          <p:cNvSpPr txBox="1"/>
          <p:nvPr/>
        </p:nvSpPr>
        <p:spPr>
          <a:xfrm>
            <a:off x="457200" y="256032"/>
            <a:ext cx="8869680" cy="475488"/>
          </a:xfrm>
          <a:prstGeom prst="rect">
            <a:avLst/>
          </a:prstGeom>
          <a:noFill/>
          <a:ln>
            <a:noFill/>
          </a:ln>
        </p:spPr>
        <p:txBody>
          <a:bodyPr wrap="square" lIns="91440" tIns="73152" rIns="91440" bIns="73152"/>
          <a:lstStyle/>
          <a:p>
            <a:r>
              <a:rPr lang="en-US" sz="2850" b="1">
                <a:solidFill>
                  <a:srgbClr val="0F172A"/>
                </a:solidFill>
              </a:rPr>
              <a:t>Demo Flow 4: Recipe Detail and Settings</a:t>
            </a:r>
            <a:endParaRPr lang="en-US"/>
          </a:p>
        </p:txBody>
      </p:sp>
      <p:sp>
        <p:nvSpPr>
          <p:cNvPr id="3" name="Subtitle"/>
          <p:cNvSpPr txBox="1"/>
          <p:nvPr/>
        </p:nvSpPr>
        <p:spPr>
          <a:xfrm>
            <a:off x="457200" y="768096"/>
            <a:ext cx="7863840" cy="310896"/>
          </a:xfrm>
          <a:prstGeom prst="rect">
            <a:avLst/>
          </a:prstGeom>
          <a:noFill/>
          <a:ln>
            <a:noFill/>
          </a:ln>
        </p:spPr>
        <p:txBody>
          <a:bodyPr wrap="square" lIns="91440" tIns="73152" rIns="91440" bIns="73152"/>
          <a:lstStyle/>
          <a:p>
            <a:r>
              <a:rPr lang="en-US" sz="1250">
                <a:solidFill>
                  <a:srgbClr val="475569"/>
                </a:solidFill>
              </a:rPr>
              <a:t>Inspect a recipe, then show account identity</a:t>
            </a:r>
            <a:endParaRPr lang="en-US"/>
          </a:p>
        </p:txBody>
      </p:sp>
      <p:sp>
        <p:nvSpPr>
          <p:cNvPr id="4" name="Time"/>
          <p:cNvSpPr txBox="1"/>
          <p:nvPr/>
        </p:nvSpPr>
        <p:spPr>
          <a:xfrm>
            <a:off x="9253728" y="749808"/>
            <a:ext cx="1417320" cy="320040"/>
          </a:xfrm>
          <a:prstGeom prst="roundRect">
            <a:avLst/>
          </a:prstGeom>
          <a:solidFill>
            <a:srgbClr val="EAF2FF"/>
          </a:solidFill>
          <a:ln>
            <a:noFill/>
          </a:ln>
        </p:spPr>
        <p:txBody>
          <a:bodyPr wrap="square" anchor="ctr" lIns="91440" tIns="45720" rIns="91440" bIns="45720"/>
          <a:lstStyle/>
          <a:p>
            <a:pPr algn="ctr"/>
            <a:r>
              <a:rPr lang="en-US" sz="1150" b="1">
                <a:solidFill>
                  <a:srgbClr val="2563EB"/>
                </a:solidFill>
              </a:rPr>
              <a:t>10:15-12:00</a:t>
            </a:r>
            <a:endParaRPr lang="en-US"/>
          </a:p>
        </p:txBody>
      </p:sp>
      <p:sp>
        <p:nvSpPr>
          <p:cNvPr id="5" name="Main content"/>
          <p:cNvSpPr txBox="1"/>
          <p:nvPr/>
        </p:nvSpPr>
        <p:spPr>
          <a:xfrm>
            <a:off x="530352" y="1325880"/>
            <a:ext cx="5349240" cy="4370832"/>
          </a:xfrm>
          <a:prstGeom prst="rect">
            <a:avLst/>
          </a:prstGeom>
          <a:noFill/>
          <a:ln>
            <a:noFill/>
          </a:ln>
        </p:spPr>
        <p:txBody>
          <a:bodyPr wrap="square" lIns="91440" tIns="73152" rIns="91440" bIns="73152"/>
          <a:lstStyle/>
          <a:p>
            <a:r>
              <a:rPr lang="en-US" sz="1440" b="1">
                <a:solidFill>
                  <a:srgbClr val="0F172A"/>
                </a:solidFill>
              </a:rPr>
              <a:t>Show:
1. Open the Miso Tofu Soup detail page.
2. Show save/add/edit actions on the recipe.
3. Open Settings and confirm the signed-in admin account.
Talk about:
- Recipe detail proves the app is not just a card list.
- Settings confirms account-scoped data and demo identity.</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700"/>
              <a:t/>
            </a:r>
          </a:p>
          <a:p>
            <a:r>
              <a:rPr lang="en-US" sz="1440" b="1">
                <a:solidFill>
                  <a:srgbClr val="0F172A"/>
                </a:solidFill>
              </a:rPr>
              <a:t/>
            </a:r>
            <a:endParaRPr lang="en-US"/>
          </a:p>
          <a:p>
            <a:r>
              <a:rPr lang="en-US" sz="1320">
                <a:solidFill>
                  <a:srgbClr val="334155"/>
                </a:solidFill>
              </a:rPr>
              <a:t/>
            </a:r>
            <a:endParaRPr lang="en-US"/>
          </a:p>
        </p:txBody>
      </p:sp>
      <p:sp>
        <p:nvSpPr>
          <p:cNvPr id="20" name="Footer"/>
          <p:cNvSpPr txBox="1"/>
          <p:nvPr/>
        </p:nvSpPr>
        <p:spPr>
          <a:xfrm>
            <a:off x="530352" y="5833872"/>
            <a:ext cx="4572000" cy="201168"/>
          </a:xfrm>
          <a:prstGeom prst="rect">
            <a:avLst/>
          </a:prstGeom>
          <a:noFill/>
          <a:ln>
            <a:noFill/>
          </a:ln>
        </p:spPr>
        <p:txBody>
          <a:bodyPr wrap="square" lIns="91440" tIns="73152" rIns="91440" bIns="73152"/>
          <a:lstStyle/>
          <a:p>
            <a:r>
              <a:rPr lang="en-US" sz="850">
                <a:solidFill>
                  <a:srgbClr val="94A3B8"/>
                </a:solidFill>
              </a:rPr>
              <a:t>Slide 8 of 12 | Rencipe Phase 1 demo plan</a:t>
            </a:r>
            <a:endParaRPr lang="en-US"/>
          </a:p>
        </p:txBody>
      </p:sp>
      <p:pic>
        <p:nvPicPr>
          <p:cNvPr id="21" name="ppt-recipe-detail.png"/>
          <p:cNvPicPr>
            <a:picLocks noChangeAspect="1"/>
          </p:cNvPicPr>
          <p:nvPr/>
        </p:nvPicPr>
        <p:blipFill>
          <a:blip r:embed="rId2"/>
          <a:stretch>
            <a:fillRect/>
          </a:stretch>
        </p:blipFill>
        <p:spPr>
          <a:xfrm>
            <a:off x="5972256" y="1207008"/>
            <a:ext cx="2091527" cy="4526280"/>
          </a:xfrm>
          <a:prstGeom prst="rect">
            <a:avLst/>
          </a:prstGeom>
          <a:ln w="9525">
            <a:solidFill>
              <a:srgbClr val="CBD5E1"/>
            </a:solidFill>
          </a:ln>
        </p:spPr>
      </p:pic>
      <p:pic>
        <p:nvPicPr>
          <p:cNvPr id="22" name="ppt-settings.png"/>
          <p:cNvPicPr>
            <a:picLocks noChangeAspect="1"/>
          </p:cNvPicPr>
          <p:nvPr/>
        </p:nvPicPr>
        <p:blipFill>
          <a:blip r:embed="rId3"/>
          <a:stretch>
            <a:fillRect/>
          </a:stretch>
        </p:blipFill>
        <p:spPr>
          <a:xfrm>
            <a:off x="8303976" y="1207008"/>
            <a:ext cx="2091527" cy="4526280"/>
          </a:xfrm>
          <a:prstGeom prst="rect">
            <a:avLst/>
          </a:prstGeom>
          <a:ln w="9525">
            <a:solidFill>
              <a:srgbClr val="CBD5E1"/>
            </a:solidFill>
          </a:ln>
        </p:spPr>
      </p:pic>
    </p:spTree>
  </p:cSld>
  <p:clrMapOvr>
    <a:masterClrMapping/>
  </p:clrMapOvr>
</p:sld>
</file>

<file path=ppt/slides/slide9.xml><?xml version="1.0" encoding="utf-8"?>
<p:sld xmlns:a="http://schemas.openxmlformats.org/drawingml/2006/main"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p:cNvSpPr txBox="1"/>
          <p:nvPr/>
        </p:nvSpPr>
        <p:spPr>
          <a:xfrm>
            <a:off x="457200" y="256032"/>
            <a:ext cx="8869680" cy="475488"/>
          </a:xfrm>
          <a:prstGeom prst="rect">
            <a:avLst/>
          </a:prstGeom>
          <a:noFill/>
          <a:ln>
            <a:noFill/>
          </a:ln>
        </p:spPr>
        <p:txBody>
          <a:bodyPr wrap="square" lIns="91440" tIns="73152" rIns="91440" bIns="73152"/>
          <a:lstStyle/>
          <a:p>
            <a:r>
              <a:rPr lang="en-US" sz="2850" b="1">
                <a:solidFill>
                  <a:srgbClr val="0F172A"/>
                </a:solidFill>
              </a:rPr>
              <a:t>Recipe Basic Walkthrough</a:t>
            </a:r>
            <a:endParaRPr lang="en-US"/>
          </a:p>
        </p:txBody>
      </p:sp>
      <p:sp>
        <p:nvSpPr>
          <p:cNvPr id="3" name="Subtitle"/>
          <p:cNvSpPr txBox="1"/>
          <p:nvPr/>
        </p:nvSpPr>
        <p:spPr>
          <a:xfrm>
            <a:off x="457200" y="768096"/>
            <a:ext cx="7863840" cy="310896"/>
          </a:xfrm>
          <a:prstGeom prst="rect">
            <a:avLst/>
          </a:prstGeom>
          <a:noFill/>
          <a:ln>
            <a:noFill/>
          </a:ln>
        </p:spPr>
        <p:txBody>
          <a:bodyPr wrap="square" lIns="91440" tIns="73152" rIns="91440" bIns="73152"/>
          <a:lstStyle/>
          <a:p>
            <a:r>
              <a:rPr lang="en-US" sz="1250">
                <a:solidFill>
                  <a:srgbClr val="475569"/>
                </a:solidFill>
              </a:rPr>
              <a:t>The exact screen order for presentation</a:t>
            </a:r>
            <a:endParaRPr lang="en-US"/>
          </a:p>
        </p:txBody>
      </p:sp>
      <p:sp>
        <p:nvSpPr>
          <p:cNvPr id="4" name="Time"/>
          <p:cNvSpPr txBox="1"/>
          <p:nvPr/>
        </p:nvSpPr>
        <p:spPr>
          <a:xfrm>
            <a:off x="9253728" y="749808"/>
            <a:ext cx="1417320" cy="320040"/>
          </a:xfrm>
          <a:prstGeom prst="roundRect">
            <a:avLst/>
          </a:prstGeom>
          <a:solidFill>
            <a:srgbClr val="EAF2FF"/>
          </a:solidFill>
          <a:ln>
            <a:noFill/>
          </a:ln>
        </p:spPr>
        <p:txBody>
          <a:bodyPr wrap="square" anchor="ctr" lIns="91440" tIns="45720" rIns="91440" bIns="45720"/>
          <a:lstStyle/>
          <a:p>
            <a:pPr algn="ctr"/>
            <a:r>
              <a:rPr lang="en-US" sz="1150" b="1">
                <a:solidFill>
                  <a:srgbClr val="2563EB"/>
                </a:solidFill>
              </a:rPr>
              <a:t>12:00-13:30</a:t>
            </a:r>
            <a:endParaRPr lang="en-US"/>
          </a:p>
        </p:txBody>
      </p:sp>
      <p:sp>
        <p:nvSpPr>
          <p:cNvPr id="5" name="Main content"/>
          <p:cNvSpPr txBox="1"/>
          <p:nvPr/>
        </p:nvSpPr>
        <p:spPr>
          <a:xfrm>
            <a:off x="530352" y="1325880"/>
            <a:ext cx="10012680" cy="4370832"/>
          </a:xfrm>
          <a:prstGeom prst="rect">
            <a:avLst/>
          </a:prstGeom>
          <a:noFill/>
          <a:ln>
            <a:noFill/>
          </a:ln>
        </p:spPr>
        <p:txBody>
          <a:bodyPr wrap="square" lIns="91440" tIns="73152" rIns="91440" bIns="73152"/>
          <a:lstStyle/>
          <a:p>
            <a:r>
              <a:rPr lang="en-US" sz="1440" b="1">
                <a:solidFill>
                  <a:srgbClr val="0F172A"/>
                </a:solidFill>
              </a:rPr>
              <a:t>Recipe-basic order:
1. Homepage
2. Search page
3. Searched view
4. Recipe detail
5. Settings page
Speaker focus:
- Discovery, search, recipe inspection, saved/cart state, and account identity.
- Keep this segment crisp before moving into meal planning.</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700"/>
              <a:t/>
            </a:r>
          </a:p>
          <a:p>
            <a:r>
              <a:rPr lang="en-US" sz="1440" b="1">
                <a:solidFill>
                  <a:srgbClr val="0F172A"/>
                </a:solidFill>
              </a:rPr>
              <a:t/>
            </a:r>
            <a:endParaRPr lang="en-US"/>
          </a:p>
          <a:p>
            <a:r>
              <a:rPr lang="en-US" sz="1320">
                <a:solidFill>
                  <a:srgbClr val="334155"/>
                </a:solidFill>
              </a:rPr>
              <a:t/>
            </a:r>
            <a:endParaRPr lang="en-US"/>
          </a:p>
          <a:p>
            <a:r>
              <a:rPr lang="en-US" sz="1320">
                <a:solidFill>
                  <a:srgbClr val="334155"/>
                </a:solidFill>
              </a:rPr>
              <a:t/>
            </a:r>
            <a:endParaRPr lang="en-US"/>
          </a:p>
        </p:txBody>
      </p:sp>
      <p:sp>
        <p:nvSpPr>
          <p:cNvPr id="20" name="Footer"/>
          <p:cNvSpPr txBox="1"/>
          <p:nvPr/>
        </p:nvSpPr>
        <p:spPr>
          <a:xfrm>
            <a:off x="530352" y="5833872"/>
            <a:ext cx="4572000" cy="201168"/>
          </a:xfrm>
          <a:prstGeom prst="rect">
            <a:avLst/>
          </a:prstGeom>
          <a:noFill/>
          <a:ln>
            <a:noFill/>
          </a:ln>
        </p:spPr>
        <p:txBody>
          <a:bodyPr wrap="square" lIns="91440" tIns="73152" rIns="91440" bIns="73152"/>
          <a:lstStyle/>
          <a:p>
            <a:r>
              <a:rPr lang="en-US" sz="850">
                <a:solidFill>
                  <a:srgbClr val="94A3B8"/>
                </a:solidFill>
              </a:rPr>
              <a:t>Slide 9 of 12 | Rencipe Phase 1 demo plan</a:t>
            </a:r>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a:xfrm>
          <a:off x="0" y="0"/>
          <a:ext cx="0" cy="0"/>
          <a:chOff x="0" y="0"/>
          <a:chExt cx="0" cy="0"/>
        </a:xfrm>
      </p:grpSpPr>
      <p:sp>
        <p:nvSpPr>
          <p:cNvPr id="2" name="Title"/>
          <p:cNvSpPr txBox="1"/>
          <p:nvPr/>
        </p:nvSpPr>
        <p:spPr>
          <a:xfrm>
            <a:off x="457200" y="256032"/>
            <a:ext cx="8869680" cy="475488"/>
          </a:xfrm>
          <a:prstGeom prst="rect">
            <a:avLst/>
          </a:prstGeom>
          <a:noFill/>
          <a:ln>
            <a:noFill/>
          </a:ln>
        </p:spPr>
        <p:txBody>
          <a:bodyPr wrap="square" lIns="91440" tIns="73152" rIns="91440" bIns="73152"/>
          <a:lstStyle/>
          <a:p>
            <a:r>
              <a:rPr lang="en-US" sz="2850" b="1">
                <a:solidFill>
                  <a:srgbClr val="0F172A"/>
                </a:solidFill>
              </a:rPr>
              <a:t>Demo Flow 5: Meal Plan Listing and Creation</a:t>
            </a:r>
            <a:endParaRPr lang="en-US"/>
          </a:p>
        </p:txBody>
      </p:sp>
      <p:sp>
        <p:nvSpPr>
          <p:cNvPr id="3" name="Subtitle"/>
          <p:cNvSpPr txBox="1"/>
          <p:nvPr/>
        </p:nvSpPr>
        <p:spPr>
          <a:xfrm>
            <a:off x="457200" y="768096"/>
            <a:ext cx="7863840" cy="310896"/>
          </a:xfrm>
          <a:prstGeom prst="rect">
            <a:avLst/>
          </a:prstGeom>
          <a:noFill/>
          <a:ln>
            <a:noFill/>
          </a:ln>
        </p:spPr>
        <p:txBody>
          <a:bodyPr wrap="square" lIns="91440" tIns="73152" rIns="91440" bIns="73152"/>
          <a:lstStyle/>
          <a:p>
            <a:r>
              <a:rPr lang="en-US" sz="1250">
                <a:solidFill>
                  <a:srgbClr val="475569"/>
                </a:solidFill>
              </a:rPr>
              <a:t>Create the planning list</a:t>
            </a:r>
            <a:endParaRPr lang="en-US"/>
          </a:p>
        </p:txBody>
      </p:sp>
      <p:sp>
        <p:nvSpPr>
          <p:cNvPr id="4" name="Time"/>
          <p:cNvSpPr txBox="1"/>
          <p:nvPr/>
        </p:nvSpPr>
        <p:spPr>
          <a:xfrm>
            <a:off x="9253728" y="749808"/>
            <a:ext cx="1417320" cy="320040"/>
          </a:xfrm>
          <a:prstGeom prst="roundRect">
            <a:avLst/>
          </a:prstGeom>
          <a:solidFill>
            <a:srgbClr val="EAF2FF"/>
          </a:solidFill>
          <a:ln>
            <a:noFill/>
          </a:ln>
        </p:spPr>
        <p:txBody>
          <a:bodyPr wrap="square" anchor="ctr" lIns="91440" tIns="45720" rIns="91440" bIns="45720"/>
          <a:lstStyle/>
          <a:p>
            <a:pPr algn="ctr"/>
            <a:r>
              <a:rPr lang="en-US" sz="1150" b="1">
                <a:solidFill>
                  <a:srgbClr val="2563EB"/>
                </a:solidFill>
              </a:rPr>
              <a:t>13:30-15:30</a:t>
            </a:r>
            <a:endParaRPr lang="en-US"/>
          </a:p>
        </p:txBody>
      </p:sp>
      <p:sp>
        <p:nvSpPr>
          <p:cNvPr id="5" name="Main content"/>
          <p:cNvSpPr txBox="1"/>
          <p:nvPr/>
        </p:nvSpPr>
        <p:spPr>
          <a:xfrm>
            <a:off x="530352" y="1325880"/>
            <a:ext cx="5349240" cy="4370832"/>
          </a:xfrm>
          <a:prstGeom prst="rect">
            <a:avLst/>
          </a:prstGeom>
          <a:noFill/>
          <a:ln>
            <a:noFill/>
          </a:ln>
        </p:spPr>
        <p:txBody>
          <a:bodyPr wrap="square" lIns="91440" tIns="73152" rIns="91440" bIns="73152"/>
          <a:lstStyle/>
          <a:p>
            <a:r>
              <a:rPr lang="en-US" sz="1440" b="1">
                <a:solidFill>
                  <a:srgbClr val="0F172A"/>
                </a:solidFill>
              </a:rPr>
              <a:t>Show:
1. Open Meal Plans.
2. Create a new plan with name, people, days, and meal type checkboxes.
3. Explain the shift: this is planning what to eat, not a prep template.
Talk about:
- Plans start from a simple list, then expand into day-by-day meals.</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700"/>
              <a:t/>
            </a:r>
          </a:p>
          <a:p>
            <a:r>
              <a:rPr lang="en-US" sz="1440" b="1">
                <a:solidFill>
                  <a:srgbClr val="0F172A"/>
                </a:solidFill>
              </a:rPr>
              <a:t/>
            </a:r>
            <a:endParaRPr lang="en-US"/>
          </a:p>
          <a:p>
            <a:r>
              <a:rPr lang="en-US" sz="1320">
                <a:solidFill>
                  <a:srgbClr val="334155"/>
                </a:solidFill>
              </a:rPr>
              <a:t/>
            </a:r>
            <a:endParaRPr lang="en-US"/>
          </a:p>
        </p:txBody>
      </p:sp>
      <p:sp>
        <p:nvSpPr>
          <p:cNvPr id="20" name="Footer"/>
          <p:cNvSpPr txBox="1"/>
          <p:nvPr/>
        </p:nvSpPr>
        <p:spPr>
          <a:xfrm>
            <a:off x="530352" y="5833872"/>
            <a:ext cx="4572000" cy="201168"/>
          </a:xfrm>
          <a:prstGeom prst="rect">
            <a:avLst/>
          </a:prstGeom>
          <a:noFill/>
          <a:ln>
            <a:noFill/>
          </a:ln>
        </p:spPr>
        <p:txBody>
          <a:bodyPr wrap="square" lIns="91440" tIns="73152" rIns="91440" bIns="73152"/>
          <a:lstStyle/>
          <a:p>
            <a:r>
              <a:rPr lang="en-US" sz="850">
                <a:solidFill>
                  <a:srgbClr val="94A3B8"/>
                </a:solidFill>
              </a:rPr>
              <a:t>Slide 10 of 12 | Rencipe Phase 1 demo plan</a:t>
            </a:r>
            <a:endParaRPr lang="en-US"/>
          </a:p>
        </p:txBody>
      </p:sp>
      <p:pic>
        <p:nvPicPr>
          <p:cNvPr id="21" name="ppt-meal-plans-list.png"/>
          <p:cNvPicPr>
            <a:picLocks noChangeAspect="1"/>
          </p:cNvPicPr>
          <p:nvPr/>
        </p:nvPicPr>
        <p:blipFill>
          <a:blip r:embed="rId2"/>
          <a:stretch>
            <a:fillRect/>
          </a:stretch>
        </p:blipFill>
        <p:spPr>
          <a:xfrm>
            <a:off x="5972256" y="1207008"/>
            <a:ext cx="2091527" cy="4526280"/>
          </a:xfrm>
          <a:prstGeom prst="rect">
            <a:avLst/>
          </a:prstGeom>
          <a:ln w="9525">
            <a:solidFill>
              <a:srgbClr val="CBD5E1"/>
            </a:solidFill>
          </a:ln>
        </p:spPr>
      </p:pic>
      <p:pic>
        <p:nvPicPr>
          <p:cNvPr id="22" name="ppt-meal-plan-create.png"/>
          <p:cNvPicPr>
            <a:picLocks noChangeAspect="1"/>
          </p:cNvPicPr>
          <p:nvPr/>
        </p:nvPicPr>
        <p:blipFill>
          <a:blip r:embed="rId3"/>
          <a:stretch>
            <a:fillRect/>
          </a:stretch>
        </p:blipFill>
        <p:spPr>
          <a:xfrm>
            <a:off x="8303976" y="1207008"/>
            <a:ext cx="2091527" cy="4526280"/>
          </a:xfrm>
          <a:prstGeom prst="rect">
            <a:avLst/>
          </a:prstGeom>
          <a:ln w="9525">
            <a:solidFill>
              <a:srgbClr val="CBD5E1"/>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a:xfrm>
          <a:off x="0" y="0"/>
          <a:ext cx="0" cy="0"/>
          <a:chOff x="0" y="0"/>
          <a:chExt cx="0" cy="0"/>
        </a:xfrm>
      </p:grpSpPr>
      <p:sp>
        <p:nvSpPr>
          <p:cNvPr id="2" name="Title"/>
          <p:cNvSpPr txBox="1"/>
          <p:nvPr/>
        </p:nvSpPr>
        <p:spPr>
          <a:xfrm>
            <a:off x="457200" y="256032"/>
            <a:ext cx="8869680" cy="475488"/>
          </a:xfrm>
          <a:prstGeom prst="rect">
            <a:avLst/>
          </a:prstGeom>
          <a:noFill/>
          <a:ln>
            <a:noFill/>
          </a:ln>
        </p:spPr>
        <p:txBody>
          <a:bodyPr wrap="square" lIns="91440" tIns="73152" rIns="91440" bIns="73152"/>
          <a:lstStyle/>
          <a:p>
            <a:r>
              <a:rPr lang="en-US" sz="2850" b="1">
                <a:solidFill>
                  <a:srgbClr val="0F172A"/>
                </a:solidFill>
              </a:rPr>
              <a:t>Demo Flow 6: Meal Plan Editing</a:t>
            </a:r>
            <a:endParaRPr lang="en-US"/>
          </a:p>
        </p:txBody>
      </p:sp>
      <p:sp>
        <p:nvSpPr>
          <p:cNvPr id="3" name="Subtitle"/>
          <p:cNvSpPr txBox="1"/>
          <p:nvPr/>
        </p:nvSpPr>
        <p:spPr>
          <a:xfrm>
            <a:off x="457200" y="768096"/>
            <a:ext cx="7863840" cy="310896"/>
          </a:xfrm>
          <a:prstGeom prst="rect">
            <a:avLst/>
          </a:prstGeom>
          <a:noFill/>
          <a:ln>
            <a:noFill/>
          </a:ln>
        </p:spPr>
        <p:txBody>
          <a:bodyPr wrap="square" lIns="91440" tIns="73152" rIns="91440" bIns="73152"/>
          <a:lstStyle/>
          <a:p>
            <a:r>
              <a:rPr lang="en-US" sz="1250">
                <a:solidFill>
                  <a:srgbClr val="475569"/>
                </a:solidFill>
              </a:rPr>
              <a:t>Day-by-day meal decisions</a:t>
            </a:r>
            <a:endParaRPr lang="en-US"/>
          </a:p>
        </p:txBody>
      </p:sp>
      <p:sp>
        <p:nvSpPr>
          <p:cNvPr id="4" name="Time"/>
          <p:cNvSpPr txBox="1"/>
          <p:nvPr/>
        </p:nvSpPr>
        <p:spPr>
          <a:xfrm>
            <a:off x="9253728" y="749808"/>
            <a:ext cx="1417320" cy="320040"/>
          </a:xfrm>
          <a:prstGeom prst="roundRect">
            <a:avLst/>
          </a:prstGeom>
          <a:solidFill>
            <a:srgbClr val="EAF2FF"/>
          </a:solidFill>
          <a:ln>
            <a:noFill/>
          </a:ln>
        </p:spPr>
        <p:txBody>
          <a:bodyPr wrap="square" anchor="ctr" lIns="91440" tIns="45720" rIns="91440" bIns="45720"/>
          <a:lstStyle/>
          <a:p>
            <a:pPr algn="ctr"/>
            <a:r>
              <a:rPr lang="en-US" sz="1150" b="1">
                <a:solidFill>
                  <a:srgbClr val="2563EB"/>
                </a:solidFill>
              </a:rPr>
              <a:t>15:30-18:00</a:t>
            </a:r>
            <a:endParaRPr lang="en-US"/>
          </a:p>
        </p:txBody>
      </p:sp>
      <p:sp>
        <p:nvSpPr>
          <p:cNvPr id="5" name="Main content"/>
          <p:cNvSpPr txBox="1"/>
          <p:nvPr/>
        </p:nvSpPr>
        <p:spPr>
          <a:xfrm>
            <a:off x="530352" y="1325880"/>
            <a:ext cx="10012680" cy="4370832"/>
          </a:xfrm>
          <a:prstGeom prst="rect">
            <a:avLst/>
          </a:prstGeom>
          <a:noFill/>
          <a:ln>
            <a:noFill/>
          </a:ln>
        </p:spPr>
        <p:txBody>
          <a:bodyPr wrap="square" lIns="91440" tIns="73152" rIns="91440" bIns="73152"/>
          <a:lstStyle/>
          <a:p>
            <a:r>
              <a:rPr lang="en-US" sz="1440" b="1">
                <a:solidFill>
                  <a:srgbClr val="0F172A"/>
                </a:solidFill>
              </a:rPr>
              <a:t>Show:
1. Day 1, Day 2, Day 3 sections.
2. Add recipes from This Plan, Website, or Saved.
3. Meal headers update as Breakfast (1), Dinner (2), etc.
4. Recipes list by name in rows and can be removed with X.
Verified:
- Backend and frontend builds passed; public nginx checks passed.</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700"/>
              <a:t/>
            </a:r>
          </a:p>
          <a:p>
            <a:r>
              <a:rPr lang="en-US" sz="1440" b="1">
                <a:solidFill>
                  <a:srgbClr val="0F172A"/>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p:txBody>
      </p:sp>
      <p:sp>
        <p:nvSpPr>
          <p:cNvPr id="20" name="Footer"/>
          <p:cNvSpPr txBox="1"/>
          <p:nvPr/>
        </p:nvSpPr>
        <p:spPr>
          <a:xfrm>
            <a:off x="530352" y="5833872"/>
            <a:ext cx="4572000" cy="201168"/>
          </a:xfrm>
          <a:prstGeom prst="rect">
            <a:avLst/>
          </a:prstGeom>
          <a:noFill/>
          <a:ln>
            <a:noFill/>
          </a:ln>
        </p:spPr>
        <p:txBody>
          <a:bodyPr wrap="square" lIns="91440" tIns="73152" rIns="91440" bIns="73152"/>
          <a:lstStyle/>
          <a:p>
            <a:r>
              <a:rPr lang="en-US" sz="850">
                <a:solidFill>
                  <a:srgbClr val="94A3B8"/>
                </a:solidFill>
              </a:rPr>
              <a:t>Slide 11 of 12 | Rencipe Phase 1 demo plan</a:t>
            </a:r>
            <a:endParaRPr lang="en-US"/>
          </a:p>
        </p:txBody>
      </p:sp>
      <p:pic>
        <p:nvPicPr>
          <p:cNvPr id="21" name="ppt-meal-plan-detail.png"/>
          <p:cNvPicPr>
            <a:picLocks noChangeAspect="1"/>
          </p:cNvPicPr>
          <p:nvPr/>
        </p:nvPicPr>
        <p:blipFill>
          <a:blip r:embed="rId2"/>
          <a:stretch>
            <a:fillRect/>
          </a:stretch>
        </p:blipFill>
        <p:spPr>
          <a:xfrm>
            <a:off x="5972256" y="1207008"/>
            <a:ext cx="2091527" cy="4526280"/>
          </a:xfrm>
          <a:prstGeom prst="rect">
            <a:avLst/>
          </a:prstGeom>
          <a:ln w="9525">
            <a:solidFill>
              <a:srgbClr val="CBD5E1"/>
            </a:solidFill>
          </a:ln>
        </p:spPr>
      </p:pic>
      <p:pic>
        <p:nvPicPr>
          <p:cNvPr id="22" name="ppt-meal-plan-add.png"/>
          <p:cNvPicPr>
            <a:picLocks noChangeAspect="1"/>
          </p:cNvPicPr>
          <p:nvPr/>
        </p:nvPicPr>
        <p:blipFill>
          <a:blip r:embed="rId3"/>
          <a:stretch>
            <a:fillRect/>
          </a:stretch>
        </p:blipFill>
        <p:spPr>
          <a:xfrm>
            <a:off x="8303976" y="1207008"/>
            <a:ext cx="2091527" cy="4526280"/>
          </a:xfrm>
          <a:prstGeom prst="rect">
            <a:avLst/>
          </a:prstGeom>
          <a:ln w="9525">
            <a:solidFill>
              <a:srgbClr val="CBD5E1"/>
            </a:solidFill>
          </a:ln>
        </p:spPr>
      </p:pic>
    </p:spTree>
  </p:cSld>
  <p:clrMapOvr>
    <a:masterClrMapping/>
  </p:clrMapOvr>
</p:sld>
</file>

<file path=ppt/slides/slide12.xml><?xml version="1.0" encoding="utf-8"?>
<p:sld xmlns:a="http://schemas.openxmlformats.org/drawingml/2006/main"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p:cNvSpPr txBox="1"/>
          <p:nvPr/>
        </p:nvSpPr>
        <p:spPr>
          <a:xfrm>
            <a:off x="457200" y="256032"/>
            <a:ext cx="8869680" cy="475488"/>
          </a:xfrm>
          <a:prstGeom prst="rect">
            <a:avLst/>
          </a:prstGeom>
          <a:noFill/>
          <a:ln>
            <a:noFill/>
          </a:ln>
        </p:spPr>
        <p:txBody>
          <a:bodyPr wrap="square" lIns="91440" tIns="73152" rIns="91440" bIns="73152"/>
          <a:lstStyle/>
          <a:p>
            <a:r>
              <a:rPr lang="en-US" sz="2850" b="1">
                <a:solidFill>
                  <a:srgbClr val="0F172A"/>
                </a:solidFill>
              </a:rPr>
              <a:t>Conclusion and Next Steps</a:t>
            </a:r>
            <a:endParaRPr lang="en-US"/>
          </a:p>
        </p:txBody>
      </p:sp>
      <p:sp>
        <p:nvSpPr>
          <p:cNvPr id="3" name="Subtitle"/>
          <p:cNvSpPr txBox="1"/>
          <p:nvPr/>
        </p:nvSpPr>
        <p:spPr>
          <a:xfrm>
            <a:off x="457200" y="768096"/>
            <a:ext cx="7863840" cy="310896"/>
          </a:xfrm>
          <a:prstGeom prst="rect">
            <a:avLst/>
          </a:prstGeom>
          <a:noFill/>
          <a:ln>
            <a:noFill/>
          </a:ln>
        </p:spPr>
        <p:txBody>
          <a:bodyPr wrap="square" lIns="91440" tIns="73152" rIns="91440" bIns="73152"/>
          <a:lstStyle/>
          <a:p>
            <a:r>
              <a:rPr lang="en-US" sz="1250">
                <a:solidFill>
                  <a:srgbClr val="475569"/>
                </a:solidFill>
              </a:rPr>
              <a:t>Goal achievement and remaining Phase 1 work</a:t>
            </a:r>
            <a:endParaRPr lang="en-US"/>
          </a:p>
        </p:txBody>
      </p:sp>
      <p:sp>
        <p:nvSpPr>
          <p:cNvPr id="4" name="Time"/>
          <p:cNvSpPr txBox="1"/>
          <p:nvPr/>
        </p:nvSpPr>
        <p:spPr>
          <a:xfrm>
            <a:off x="9253728" y="749808"/>
            <a:ext cx="1417320" cy="320040"/>
          </a:xfrm>
          <a:prstGeom prst="roundRect">
            <a:avLst/>
          </a:prstGeom>
          <a:solidFill>
            <a:srgbClr val="EAF2FF"/>
          </a:solidFill>
          <a:ln>
            <a:noFill/>
          </a:ln>
        </p:spPr>
        <p:txBody>
          <a:bodyPr wrap="square" anchor="ctr" lIns="91440" tIns="45720" rIns="91440" bIns="45720"/>
          <a:lstStyle/>
          <a:p>
            <a:pPr algn="ctr"/>
            <a:r>
              <a:rPr lang="en-US" sz="1150" b="1">
                <a:solidFill>
                  <a:srgbClr val="2563EB"/>
                </a:solidFill>
              </a:rPr>
              <a:t>18:45-20:00</a:t>
            </a:r>
            <a:endParaRPr lang="en-US"/>
          </a:p>
        </p:txBody>
      </p:sp>
      <p:sp>
        <p:nvSpPr>
          <p:cNvPr id="5" name="Main content"/>
          <p:cNvSpPr txBox="1"/>
          <p:nvPr/>
        </p:nvSpPr>
        <p:spPr>
          <a:xfrm>
            <a:off x="530352" y="1325880"/>
            <a:ext cx="10012680" cy="4370832"/>
          </a:xfrm>
          <a:prstGeom prst="rect">
            <a:avLst/>
          </a:prstGeom>
          <a:noFill/>
          <a:ln>
            <a:noFill/>
          </a:ln>
        </p:spPr>
        <p:txBody>
          <a:bodyPr wrap="square" lIns="91440" tIns="73152" rIns="91440" bIns="73152"/>
          <a:lstStyle/>
          <a:p>
            <a:r>
              <a:rPr lang="en-US" sz="1440" b="1">
                <a:solidFill>
                  <a:srgbClr val="0F172A"/>
                </a:solidFill>
              </a:rPr>
              <a:t>Achieved:
- Recipe management, search, recipe detail, settings/account identity, saved recipes, cart, day-based meal planning, auth, and deployment.
- The demo now follows a clean recipe-basic path before meal planning.
Remaining:
- Rehearse timing, validate ingredient-list behavior with real demo plans, and decide whether keto scope is future work or a small visible feature.</a:t>
            </a:r>
            <a:endParaRPr lang="en-US"/>
          </a:p>
          <a:p>
            <a:r>
              <a:rPr lang="en-US" sz="1320">
                <a:solidFill>
                  <a:srgbClr val="334155"/>
                </a:solidFill>
              </a:rPr>
              <a:t/>
            </a:r>
            <a:endParaRPr lang="en-US"/>
          </a:p>
          <a:p>
            <a:r>
              <a:rPr lang="en-US" sz="1320">
                <a:solidFill>
                  <a:srgbClr val="334155"/>
                </a:solidFill>
              </a:rPr>
              <a:t/>
            </a:r>
            <a:endParaRPr lang="en-US"/>
          </a:p>
          <a:p>
            <a:r>
              <a:rPr lang="en-US" sz="700"/>
              <a:t/>
            </a:r>
          </a:p>
          <a:p>
            <a:r>
              <a:rPr lang="en-US" sz="1440" b="1">
                <a:solidFill>
                  <a:srgbClr val="0F172A"/>
                </a:solidFill>
              </a:rPr>
              <a:t/>
            </a:r>
            <a:endParaRPr lang="en-US"/>
          </a:p>
          <a:p>
            <a:r>
              <a:rPr lang="en-US" sz="1320">
                <a:solidFill>
                  <a:srgbClr val="334155"/>
                </a:solidFill>
              </a:rPr>
              <a:t/>
            </a:r>
            <a:endParaRPr lang="en-US"/>
          </a:p>
          <a:p>
            <a:r>
              <a:rPr lang="en-US" sz="1320">
                <a:solidFill>
                  <a:srgbClr val="334155"/>
                </a:solidFill>
              </a:rPr>
              <a:t/>
            </a:r>
            <a:endParaRPr lang="en-US"/>
          </a:p>
          <a:p>
            <a:r>
              <a:rPr lang="en-US" sz="1320">
                <a:solidFill>
                  <a:srgbClr val="334155"/>
                </a:solidFill>
              </a:rPr>
              <a:t/>
            </a:r>
            <a:endParaRPr lang="en-US"/>
          </a:p>
          <a:p>
            <a:r>
              <a:rPr lang="en-US" sz="700"/>
              <a:t/>
            </a:r>
          </a:p>
          <a:p>
            <a:r>
              <a:rPr lang="en-US" sz="1440" b="1">
                <a:solidFill>
                  <a:srgbClr val="0F172A"/>
                </a:solidFill>
              </a:rPr>
              <a:t/>
            </a:r>
            <a:endParaRPr lang="en-US"/>
          </a:p>
          <a:p>
            <a:r>
              <a:rPr lang="en-US" sz="1320">
                <a:solidFill>
                  <a:srgbClr val="334155"/>
                </a:solidFill>
              </a:rPr>
              <a:t/>
            </a:r>
            <a:endParaRPr lang="en-US"/>
          </a:p>
        </p:txBody>
      </p:sp>
      <p:sp>
        <p:nvSpPr>
          <p:cNvPr id="20" name="Footer"/>
          <p:cNvSpPr txBox="1"/>
          <p:nvPr/>
        </p:nvSpPr>
        <p:spPr>
          <a:xfrm>
            <a:off x="530352" y="5833872"/>
            <a:ext cx="4572000" cy="201168"/>
          </a:xfrm>
          <a:prstGeom prst="rect">
            <a:avLst/>
          </a:prstGeom>
          <a:noFill/>
          <a:ln>
            <a:noFill/>
          </a:ln>
        </p:spPr>
        <p:txBody>
          <a:bodyPr wrap="square" lIns="91440" tIns="73152" rIns="91440" bIns="73152"/>
          <a:lstStyle/>
          <a:p>
            <a:r>
              <a:rPr lang="en-US" sz="850">
                <a:solidFill>
                  <a:srgbClr val="94A3B8"/>
                </a:solidFill>
              </a:rPr>
              <a:t>Slide 12 of 12 | Rencipe Phase 1 demo plan</a:t>
            </a:r>
            <a:endParaRPr lang="en-US"/>
          </a:p>
        </p:txBody>
      </p:sp>
    </p:spTree>
  </p:cSld>
  <p:clrMapOvr>
    <a:masterClrMapping/>
  </p:clrMapOvr>
</p:sld>
</file>

<file path=ppt/theme/theme1.xml><?xml version="1.0" encoding="utf-8"?>
<a:theme xmlns:a="http://schemas.openxmlformats.org/drawingml/2006/main" name="Rencipe Theme">
  <a:themeElements>
    <a:clrScheme name="Rencipe">
      <a:dk1>
        <a:srgbClr val="0F172A"/>
      </a:dk1>
      <a:lt1>
        <a:srgbClr val="FFFFFF"/>
      </a:lt1>
      <a:dk2>
        <a:srgbClr val="334155"/>
      </a:dk2>
      <a:lt2>
        <a:srgbClr val="F8FAFC"/>
      </a:lt2>
      <a:accent1>
        <a:srgbClr val="0F766E"/>
      </a:accent1>
      <a:accent2>
        <a:srgbClr val="2563EB"/>
      </a:accent2>
      <a:accent3>
        <a:srgbClr val="7C3AED"/>
      </a:accent3>
      <a:accent4>
        <a:srgbClr val="EA580C"/>
      </a:accent4>
      <a:accent5>
        <a:srgbClr val="16A34A"/>
      </a:accent5>
      <a:accent6>
        <a:srgbClr val="DC2626"/>
      </a:accent6>
      <a:hlink>
        <a:srgbClr val="2563EB"/>
      </a:hlink>
      <a:folHlink>
        <a:srgbClr val="7C3AED"/>
      </a:folHlink>
    </a:clrScheme>
    <a:fontScheme name="Aptos">
      <a:majorFont>
        <a:latin typeface="Aptos Display"/>
      </a:majorFont>
      <a:minorFont>
        <a:latin typeface="Aptos"/>
      </a:minorFont>
    </a:fontScheme>
    <a:fmtScheme name="Rencip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GitHub Copilot</Application>
  <PresentationFormat>On-screen Show (16:9)</PresentationFormat>
  <Slides>12</Slides>
  <Company>Rencipe</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Rencipe Phase 1 Demo Plan</dc:title>
  <dc:subject>CPSC 597 20-minute demo slide map</dc:subject>
  <dc:creator>GitHub Copilot</dc:creator>
  <cp:lastModifiedBy>GitHub Copilot</cp:lastModifiedBy>
  <dcterms:created xsi:type="dcterms:W3CDTF">2026-05-03T06:15:48Z</dcterms:created>
  <dcterms:modified xsi:type="dcterms:W3CDTF">2026-05-03T06:15:48Z</dcterms:modified>
</cp:coreProperties>
</file>