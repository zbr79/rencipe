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 type="wide"/>
  <p:notesSz cx="6858000" cy="9144000"/>
  <p:defaultTextStyle>
    <a:defPPr>
      <a:defRPr lang="en-US"/>
    </a:defPPr>
  </p:defaultTextStyle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pt-home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pt-login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pt-home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pt-search.png"/><Relationship Id="rId3" Type="http://schemas.openxmlformats.org/officeDocument/2006/relationships/image" Target="../media/ppt-categories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pt-saved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pt-meal-plans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56032"/>
            <a:ext cx="8869680" cy="475488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2850" b="1">
                <a:solidFill>
                  <a:srgbClr val="0F172A"/>
                </a:solidFill>
              </a:rPr>
              <a:t>Rencipe Phase 1 Demo Plan</a:t>
            </a:r>
            <a:endParaRPr lang="en-US"/>
          </a:p>
        </p:txBody>
      </p:sp>
      <p:sp>
        <p:nvSpPr>
          <p:cNvPr id="3" name="Subtitle"/>
          <p:cNvSpPr txBox="1"/>
          <p:nvPr/>
        </p:nvSpPr>
        <p:spPr>
          <a:xfrm>
            <a:off x="457200" y="768096"/>
            <a:ext cx="786384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1250">
                <a:solidFill>
                  <a:srgbClr val="475569"/>
                </a:solidFill>
              </a:rPr>
              <a:t>20-minute CPSC 597 walkthrough with current app screenshots</a:t>
            </a:r>
            <a:endParaRPr lang="en-US"/>
          </a:p>
        </p:txBody>
      </p:sp>
      <p:sp>
        <p:nvSpPr>
          <p:cNvPr id="4" name="Time"/>
          <p:cNvSpPr txBox="1"/>
          <p:nvPr/>
        </p:nvSpPr>
        <p:spPr>
          <a:xfrm>
            <a:off x="9253728" y="749808"/>
            <a:ext cx="1417320" cy="320040"/>
          </a:xfrm>
          <a:prstGeom prst="roundRect">
            <a:avLst/>
          </a:prstGeom>
          <a:solidFill>
            <a:srgbClr val="EAF2FF"/>
          </a:solidFill>
          <a:ln>
            <a:noFill/>
          </a:ln>
        </p:spPr>
        <p:txBody>
          <a:bodyPr wrap="square" anchor="ctr" lIns="91440" tIns="45720" rIns="91440" bIns="45720"/>
          <a:lstStyle/>
          <a:p>
            <a:pPr algn="ctr"/>
            <a:r>
              <a:rPr lang="en-US" sz="1150" b="1">
                <a:solidFill>
                  <a:srgbClr val="2563EB"/>
                </a:solidFill>
              </a:rPr>
              <a:t>0:00-0:45</a:t>
            </a:r>
            <a:endParaRPr lang="en-US"/>
          </a:p>
        </p:txBody>
      </p:sp>
      <p:sp>
        <p:nvSpPr>
          <p:cNvPr id="5" name="Main content"/>
          <p:cNvSpPr txBox="1"/>
          <p:nvPr/>
        </p:nvSpPr>
        <p:spPr>
          <a:xfrm>
            <a:off x="530352" y="1325880"/>
            <a:ext cx="5349240" cy="4370832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1440" b="1">
                <a:solidFill>
                  <a:srgbClr val="0F172A"/>
                </a:solidFill>
              </a:rPr>
              <a:t>Key message: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Rencipe connects recipe discovery, saving, cart collection, and household meal planning.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The demo now shows backend login, role-based recipe visibility, and the live deployed app.</a:t>
            </a:r>
            <a:endParaRPr lang="en-US"/>
          </a:p>
          <a:p>
            <a:r>
              <a:rPr lang="en-US" sz="700"/>
              <a:t> </a:t>
            </a:r>
          </a:p>
          <a:p>
            <a:r>
              <a:rPr lang="en-US" sz="1440" b="1">
                <a:solidFill>
                  <a:srgbClr val="0F172A"/>
                </a:solidFill>
              </a:rPr>
              <a:t>Required output: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PowerPoint deck with screenshots.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Recorded video presentation.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Project outcomes demo within about 20 minutes.</a:t>
            </a:r>
            <a:endParaRPr lang="en-US"/>
          </a:p>
        </p:txBody>
      </p:sp>
      <p:pic>
        <p:nvPicPr>
          <p:cNvPr id="9" name="ppt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3566" y="1143000"/>
            <a:ext cx="2154907" cy="466344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  <p:sp>
        <p:nvSpPr>
          <p:cNvPr id="20" name="Footer"/>
          <p:cNvSpPr txBox="1"/>
          <p:nvPr/>
        </p:nvSpPr>
        <p:spPr>
          <a:xfrm>
            <a:off x="530352" y="5833872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850">
                <a:solidFill>
                  <a:srgbClr val="94A3B8"/>
                </a:solidFill>
              </a:rPr>
              <a:t>Slide 1 of 12 | Rencipe Phase 1 demo plan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56032"/>
            <a:ext cx="8869680" cy="475488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2850" b="1">
                <a:solidFill>
                  <a:srgbClr val="0F172A"/>
                </a:solidFill>
              </a:rPr>
              <a:t>Background, Motivation, and Problem</a:t>
            </a:r>
            <a:endParaRPr lang="en-US"/>
          </a:p>
        </p:txBody>
      </p:sp>
      <p:sp>
        <p:nvSpPr>
          <p:cNvPr id="3" name="Subtitle"/>
          <p:cNvSpPr txBox="1"/>
          <p:nvPr/>
        </p:nvSpPr>
        <p:spPr>
          <a:xfrm>
            <a:off x="457200" y="768096"/>
            <a:ext cx="786384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1250">
                <a:solidFill>
                  <a:srgbClr val="475569"/>
                </a:solidFill>
              </a:rPr>
              <a:t>Why this project exists</a:t>
            </a:r>
            <a:endParaRPr lang="en-US"/>
          </a:p>
        </p:txBody>
      </p:sp>
      <p:sp>
        <p:nvSpPr>
          <p:cNvPr id="4" name="Time"/>
          <p:cNvSpPr txBox="1"/>
          <p:nvPr/>
        </p:nvSpPr>
        <p:spPr>
          <a:xfrm>
            <a:off x="9253728" y="749808"/>
            <a:ext cx="1417320" cy="320040"/>
          </a:xfrm>
          <a:prstGeom prst="roundRect">
            <a:avLst/>
          </a:prstGeom>
          <a:solidFill>
            <a:srgbClr val="EAF2FF"/>
          </a:solidFill>
          <a:ln>
            <a:noFill/>
          </a:ln>
        </p:spPr>
        <p:txBody>
          <a:bodyPr wrap="square" anchor="ctr" lIns="91440" tIns="45720" rIns="91440" bIns="45720"/>
          <a:lstStyle/>
          <a:p>
            <a:pPr algn="ctr"/>
            <a:r>
              <a:rPr lang="en-US" sz="1150" b="1">
                <a:solidFill>
                  <a:srgbClr val="2563EB"/>
                </a:solidFill>
              </a:rPr>
              <a:t>0:45-2:15</a:t>
            </a:r>
            <a:endParaRPr lang="en-US"/>
          </a:p>
        </p:txBody>
      </p:sp>
      <p:sp>
        <p:nvSpPr>
          <p:cNvPr id="5" name="Main content"/>
          <p:cNvSpPr txBox="1"/>
          <p:nvPr/>
        </p:nvSpPr>
        <p:spPr>
          <a:xfrm>
            <a:off x="530352" y="1325880"/>
            <a:ext cx="10012680" cy="4370832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1440" b="1">
                <a:solidFill>
                  <a:srgbClr val="0F172A"/>
                </a:solidFill>
              </a:rPr>
              <a:t>Background: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Recipes are scattered across sites, videos, notes, and family habits.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Most tools help users browse recipes, but do not connect them to meal preparation.</a:t>
            </a:r>
            <a:endParaRPr lang="en-US"/>
          </a:p>
          <a:p>
            <a:r>
              <a:rPr lang="en-US" sz="700"/>
              <a:t> </a:t>
            </a:r>
          </a:p>
          <a:p>
            <a:r>
              <a:rPr lang="en-US" sz="1440" b="1">
                <a:solidFill>
                  <a:srgbClr val="0F172A"/>
                </a:solidFill>
              </a:rPr>
              <a:t>Problem: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Meal planning, grocery prep, and portion adjustment are still mostly manual.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Households need one flow from recipe to saved list, cart, meal plan, and schedule.</a:t>
            </a:r>
            <a:endParaRPr lang="en-US"/>
          </a:p>
          <a:p>
            <a:r>
              <a:rPr lang="en-US" sz="700"/>
              <a:t> </a:t>
            </a:r>
          </a:p>
          <a:p>
            <a:r>
              <a:rPr lang="en-US" sz="1440" b="1">
                <a:solidFill>
                  <a:srgbClr val="0F172A"/>
                </a:solidFill>
              </a:rPr>
              <a:t>Significance: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Reduce planning chaos.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Save grocery-shopping time.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Support healthier repeatable meals.</a:t>
            </a:r>
            <a:endParaRPr lang="en-US"/>
          </a:p>
        </p:txBody>
      </p:sp>
      <p:sp>
        <p:nvSpPr>
          <p:cNvPr id="20" name="Footer"/>
          <p:cNvSpPr txBox="1"/>
          <p:nvPr/>
        </p:nvSpPr>
        <p:spPr>
          <a:xfrm>
            <a:off x="530352" y="5833872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850">
                <a:solidFill>
                  <a:srgbClr val="94A3B8"/>
                </a:solidFill>
              </a:rPr>
              <a:t>Slide 2 of 12 | Rencipe Phase 1 demo plan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56032"/>
            <a:ext cx="8869680" cy="475488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2850" b="1">
                <a:solidFill>
                  <a:srgbClr val="0F172A"/>
                </a:solidFill>
              </a:rPr>
              <a:t>Demo-Ready Feature Inventory</a:t>
            </a:r>
            <a:endParaRPr lang="en-US"/>
          </a:p>
        </p:txBody>
      </p:sp>
      <p:sp>
        <p:nvSpPr>
          <p:cNvPr id="3" name="Subtitle"/>
          <p:cNvSpPr txBox="1"/>
          <p:nvPr/>
        </p:nvSpPr>
        <p:spPr>
          <a:xfrm>
            <a:off x="457200" y="768096"/>
            <a:ext cx="786384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1250">
                <a:solidFill>
                  <a:srgbClr val="475569"/>
                </a:solidFill>
              </a:rPr>
              <a:t>What is ready to show now</a:t>
            </a:r>
            <a:endParaRPr lang="en-US"/>
          </a:p>
        </p:txBody>
      </p:sp>
      <p:sp>
        <p:nvSpPr>
          <p:cNvPr id="4" name="Time"/>
          <p:cNvSpPr txBox="1"/>
          <p:nvPr/>
        </p:nvSpPr>
        <p:spPr>
          <a:xfrm>
            <a:off x="9253728" y="749808"/>
            <a:ext cx="1417320" cy="320040"/>
          </a:xfrm>
          <a:prstGeom prst="roundRect">
            <a:avLst/>
          </a:prstGeom>
          <a:solidFill>
            <a:srgbClr val="EAF2FF"/>
          </a:solidFill>
          <a:ln>
            <a:noFill/>
          </a:ln>
        </p:spPr>
        <p:txBody>
          <a:bodyPr wrap="square" anchor="ctr" lIns="91440" tIns="45720" rIns="91440" bIns="45720"/>
          <a:lstStyle/>
          <a:p>
            <a:pPr algn="ctr"/>
            <a:r>
              <a:rPr lang="en-US" sz="1150" b="1">
                <a:solidFill>
                  <a:srgbClr val="2563EB"/>
                </a:solidFill>
              </a:rPr>
              <a:t>2:15-3:45</a:t>
            </a:r>
            <a:endParaRPr lang="en-US"/>
          </a:p>
        </p:txBody>
      </p:sp>
      <p:sp>
        <p:nvSpPr>
          <p:cNvPr id="5" name="Main content"/>
          <p:cNvSpPr txBox="1"/>
          <p:nvPr/>
        </p:nvSpPr>
        <p:spPr>
          <a:xfrm>
            <a:off x="530352" y="1325880"/>
            <a:ext cx="10012680" cy="4370832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1440" b="1">
                <a:solidFill>
                  <a:srgbClr val="0F172A"/>
                </a:solidFill>
              </a:rPr>
              <a:t>Ready features: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Backend login with demo users: admin/admin and testuser1/testuser1.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Recipe visibility: public recipes for users, admin-private recipes only for admin.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Home discovery with 10 public slideshow recipes and Save/Add actions.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Separate Search and Categories pages.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Saved recipes, cart, and checkout into Meal Plans.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Recipe create/edit/delete, cover images, step images, and autosaved drafts.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Meal Plans with people, portions, combinations, cart recipes, and ingredient lists.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Live deployment with SSL/TLS, Nginx, PM2, frontend 4000, backend 6000.</a:t>
            </a:r>
            <a:endParaRPr lang="en-US"/>
          </a:p>
        </p:txBody>
      </p:sp>
      <p:sp>
        <p:nvSpPr>
          <p:cNvPr id="20" name="Footer"/>
          <p:cNvSpPr txBox="1"/>
          <p:nvPr/>
        </p:nvSpPr>
        <p:spPr>
          <a:xfrm>
            <a:off x="530352" y="5833872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850">
                <a:solidFill>
                  <a:srgbClr val="94A3B8"/>
                </a:solidFill>
              </a:rPr>
              <a:t>Slide 3 of 12 | Rencipe Phase 1 demo plan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56032"/>
            <a:ext cx="8869680" cy="475488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2850" b="1">
                <a:solidFill>
                  <a:srgbClr val="0F172A"/>
                </a:solidFill>
              </a:rPr>
              <a:t>System Architecture</a:t>
            </a:r>
            <a:endParaRPr lang="en-US"/>
          </a:p>
        </p:txBody>
      </p:sp>
      <p:sp>
        <p:nvSpPr>
          <p:cNvPr id="3" name="Subtitle"/>
          <p:cNvSpPr txBox="1"/>
          <p:nvPr/>
        </p:nvSpPr>
        <p:spPr>
          <a:xfrm>
            <a:off x="457200" y="768096"/>
            <a:ext cx="786384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1250">
                <a:solidFill>
                  <a:srgbClr val="475569"/>
                </a:solidFill>
              </a:rPr>
              <a:t>Approach and deployed environment</a:t>
            </a:r>
            <a:endParaRPr lang="en-US"/>
          </a:p>
        </p:txBody>
      </p:sp>
      <p:sp>
        <p:nvSpPr>
          <p:cNvPr id="4" name="Time"/>
          <p:cNvSpPr txBox="1"/>
          <p:nvPr/>
        </p:nvSpPr>
        <p:spPr>
          <a:xfrm>
            <a:off x="9253728" y="749808"/>
            <a:ext cx="1417320" cy="320040"/>
          </a:xfrm>
          <a:prstGeom prst="roundRect">
            <a:avLst/>
          </a:prstGeom>
          <a:solidFill>
            <a:srgbClr val="EAF2FF"/>
          </a:solidFill>
          <a:ln>
            <a:noFill/>
          </a:ln>
        </p:spPr>
        <p:txBody>
          <a:bodyPr wrap="square" anchor="ctr" lIns="91440" tIns="45720" rIns="91440" bIns="45720"/>
          <a:lstStyle/>
          <a:p>
            <a:pPr algn="ctr"/>
            <a:r>
              <a:rPr lang="en-US" sz="1150" b="1">
                <a:solidFill>
                  <a:srgbClr val="2563EB"/>
                </a:solidFill>
              </a:rPr>
              <a:t>3:45-5:00</a:t>
            </a:r>
            <a:endParaRPr lang="en-US"/>
          </a:p>
        </p:txBody>
      </p:sp>
      <p:sp>
        <p:nvSpPr>
          <p:cNvPr id="5" name="Main content"/>
          <p:cNvSpPr txBox="1"/>
          <p:nvPr/>
        </p:nvSpPr>
        <p:spPr>
          <a:xfrm>
            <a:off x="530352" y="1325880"/>
            <a:ext cx="10012680" cy="4370832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1440" b="1">
                <a:solidFill>
                  <a:srgbClr val="0F172A"/>
                </a:solidFill>
              </a:rPr>
              <a:t>Runtime flow: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Browser -&gt; Nginx / SSL -&gt; Next.js frontend on port 4000.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Nginx /api proxy -&gt; Express backend on port 6000.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Backend persists recipes, users, carts, favorites, drafts, and plans in MongoDB.</a:t>
            </a:r>
            <a:endParaRPr lang="en-US"/>
          </a:p>
          <a:p>
            <a:r>
              <a:rPr lang="en-US" sz="700"/>
              <a:t> </a:t>
            </a:r>
          </a:p>
          <a:p>
            <a:r>
              <a:rPr lang="en-US" sz="1440" b="1">
                <a:solidFill>
                  <a:srgbClr val="0F172A"/>
                </a:solidFill>
              </a:rPr>
              <a:t>Implementation stack: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Frontend: Next.js, React, TypeScript, CSS Modules.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Backend: Node.js, Express, TypeScript, Mongoose.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Auth: JWT session tokens with backend verification.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Deployment: Oracle VM, PM2, Nginx reverse proxy, registered domain.</a:t>
            </a:r>
            <a:endParaRPr lang="en-US"/>
          </a:p>
        </p:txBody>
      </p:sp>
      <p:sp>
        <p:nvSpPr>
          <p:cNvPr id="20" name="Footer"/>
          <p:cNvSpPr txBox="1"/>
          <p:nvPr/>
        </p:nvSpPr>
        <p:spPr>
          <a:xfrm>
            <a:off x="530352" y="5833872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850">
                <a:solidFill>
                  <a:srgbClr val="94A3B8"/>
                </a:solidFill>
              </a:rPr>
              <a:t>Slide 4 of 12 | Rencipe Phase 1 demo plan</a:t>
            </a: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56032"/>
            <a:ext cx="8869680" cy="475488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2850" b="1">
                <a:solidFill>
                  <a:srgbClr val="0F172A"/>
                </a:solidFill>
              </a:rPr>
              <a:t>Demo Flow 1: Login and Role Visibility</a:t>
            </a:r>
            <a:endParaRPr lang="en-US"/>
          </a:p>
        </p:txBody>
      </p:sp>
      <p:sp>
        <p:nvSpPr>
          <p:cNvPr id="3" name="Subtitle"/>
          <p:cNvSpPr txBox="1"/>
          <p:nvPr/>
        </p:nvSpPr>
        <p:spPr>
          <a:xfrm>
            <a:off x="457200" y="768096"/>
            <a:ext cx="786384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1250">
                <a:solidFill>
                  <a:srgbClr val="475569"/>
                </a:solidFill>
              </a:rPr>
              <a:t>Start by proving access control</a:t>
            </a:r>
            <a:endParaRPr lang="en-US"/>
          </a:p>
        </p:txBody>
      </p:sp>
      <p:sp>
        <p:nvSpPr>
          <p:cNvPr id="4" name="Time"/>
          <p:cNvSpPr txBox="1"/>
          <p:nvPr/>
        </p:nvSpPr>
        <p:spPr>
          <a:xfrm>
            <a:off x="9253728" y="749808"/>
            <a:ext cx="1417320" cy="320040"/>
          </a:xfrm>
          <a:prstGeom prst="roundRect">
            <a:avLst/>
          </a:prstGeom>
          <a:solidFill>
            <a:srgbClr val="EAF2FF"/>
          </a:solidFill>
          <a:ln>
            <a:noFill/>
          </a:ln>
        </p:spPr>
        <p:txBody>
          <a:bodyPr wrap="square" anchor="ctr" lIns="91440" tIns="45720" rIns="91440" bIns="45720"/>
          <a:lstStyle/>
          <a:p>
            <a:pPr algn="ctr"/>
            <a:r>
              <a:rPr lang="en-US" sz="1150" b="1">
                <a:solidFill>
                  <a:srgbClr val="2563EB"/>
                </a:solidFill>
              </a:rPr>
              <a:t>5:00-6:45</a:t>
            </a:r>
            <a:endParaRPr lang="en-US"/>
          </a:p>
        </p:txBody>
      </p:sp>
      <p:sp>
        <p:nvSpPr>
          <p:cNvPr id="5" name="Main content"/>
          <p:cNvSpPr txBox="1"/>
          <p:nvPr/>
        </p:nvSpPr>
        <p:spPr>
          <a:xfrm>
            <a:off x="530352" y="1325880"/>
            <a:ext cx="5349240" cy="4370832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1440" b="1">
                <a:solidFill>
                  <a:srgbClr val="0F172A"/>
                </a:solidFill>
              </a:rPr>
              <a:t>Show: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Open the concise sign-in page.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Sign in as admin/admin.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Search Admin Private and show 2 private recipes.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Sign out, sign in as testuser1/testuser1.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Search the same term and show 0 recipes.</a:t>
            </a:r>
            <a:endParaRPr lang="en-US"/>
          </a:p>
          <a:p>
            <a:r>
              <a:rPr lang="en-US" sz="700"/>
              <a:t> </a:t>
            </a:r>
          </a:p>
          <a:p>
            <a:r>
              <a:rPr lang="en-US" sz="1440" b="1">
                <a:solidFill>
                  <a:srgbClr val="0F172A"/>
                </a:solidFill>
              </a:rPr>
              <a:t>Outcome to emphasize: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Auth is backend-backed, not a local-only demo gate.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Public/private recipe visibility works in the deployed app.</a:t>
            </a:r>
            <a:endParaRPr lang="en-US"/>
          </a:p>
        </p:txBody>
      </p:sp>
      <p:pic>
        <p:nvPicPr>
          <p:cNvPr id="9" name="ppt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3566" y="1143000"/>
            <a:ext cx="2154907" cy="466344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  <p:sp>
        <p:nvSpPr>
          <p:cNvPr id="20" name="Footer"/>
          <p:cNvSpPr txBox="1"/>
          <p:nvPr/>
        </p:nvSpPr>
        <p:spPr>
          <a:xfrm>
            <a:off x="530352" y="5833872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850">
                <a:solidFill>
                  <a:srgbClr val="94A3B8"/>
                </a:solidFill>
              </a:rPr>
              <a:t>Slide 5 of 12 | Rencipe Phase 1 demo plan</a:t>
            </a:r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56032"/>
            <a:ext cx="8869680" cy="475488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2850" b="1">
                <a:solidFill>
                  <a:srgbClr val="0F172A"/>
                </a:solidFill>
              </a:rPr>
              <a:t>Demo Flow 2: Home Discovery</a:t>
            </a:r>
            <a:endParaRPr lang="en-US"/>
          </a:p>
        </p:txBody>
      </p:sp>
      <p:sp>
        <p:nvSpPr>
          <p:cNvPr id="3" name="Subtitle"/>
          <p:cNvSpPr txBox="1"/>
          <p:nvPr/>
        </p:nvSpPr>
        <p:spPr>
          <a:xfrm>
            <a:off x="457200" y="768096"/>
            <a:ext cx="786384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1250">
                <a:solidFill>
                  <a:srgbClr val="475569"/>
                </a:solidFill>
              </a:rPr>
              <a:t>Public recommendations and quick actions</a:t>
            </a:r>
            <a:endParaRPr lang="en-US"/>
          </a:p>
        </p:txBody>
      </p:sp>
      <p:sp>
        <p:nvSpPr>
          <p:cNvPr id="4" name="Time"/>
          <p:cNvSpPr txBox="1"/>
          <p:nvPr/>
        </p:nvSpPr>
        <p:spPr>
          <a:xfrm>
            <a:off x="9253728" y="749808"/>
            <a:ext cx="1417320" cy="320040"/>
          </a:xfrm>
          <a:prstGeom prst="roundRect">
            <a:avLst/>
          </a:prstGeom>
          <a:solidFill>
            <a:srgbClr val="EAF2FF"/>
          </a:solidFill>
          <a:ln>
            <a:noFill/>
          </a:ln>
        </p:spPr>
        <p:txBody>
          <a:bodyPr wrap="square" anchor="ctr" lIns="91440" tIns="45720" rIns="91440" bIns="45720"/>
          <a:lstStyle/>
          <a:p>
            <a:pPr algn="ctr"/>
            <a:r>
              <a:rPr lang="en-US" sz="1150" b="1">
                <a:solidFill>
                  <a:srgbClr val="2563EB"/>
                </a:solidFill>
              </a:rPr>
              <a:t>6:45-8:15</a:t>
            </a:r>
            <a:endParaRPr lang="en-US"/>
          </a:p>
        </p:txBody>
      </p:sp>
      <p:sp>
        <p:nvSpPr>
          <p:cNvPr id="5" name="Main content"/>
          <p:cNvSpPr txBox="1"/>
          <p:nvPr/>
        </p:nvSpPr>
        <p:spPr>
          <a:xfrm>
            <a:off x="530352" y="1325880"/>
            <a:ext cx="5349240" cy="4370832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1440" b="1">
                <a:solidFill>
                  <a:srgbClr val="0F172A"/>
                </a:solidFill>
              </a:rPr>
              <a:t>Show: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Home slideshow with 10 public recipe images.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Wider transparent arrow controls with black borders.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Recipe cards include both Save and Add actions.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Admin-private recipes do not appear in recommendations.</a:t>
            </a:r>
            <a:endParaRPr lang="en-US"/>
          </a:p>
          <a:p>
            <a:r>
              <a:rPr lang="en-US" sz="700"/>
              <a:t> </a:t>
            </a:r>
          </a:p>
          <a:p>
            <a:r>
              <a:rPr lang="en-US" sz="1440" b="1">
                <a:solidFill>
                  <a:srgbClr val="0F172A"/>
                </a:solidFill>
              </a:rPr>
              <a:t>Outcome to emphasize: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The app feels like a usable recipe product, not only a database UI.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Discovery leads directly into saved recipes and shopping/cart workflows.</a:t>
            </a:r>
            <a:endParaRPr lang="en-US"/>
          </a:p>
        </p:txBody>
      </p:sp>
      <p:pic>
        <p:nvPicPr>
          <p:cNvPr id="9" name="ppt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3566" y="1143000"/>
            <a:ext cx="2154907" cy="466344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  <p:sp>
        <p:nvSpPr>
          <p:cNvPr id="20" name="Footer"/>
          <p:cNvSpPr txBox="1"/>
          <p:nvPr/>
        </p:nvSpPr>
        <p:spPr>
          <a:xfrm>
            <a:off x="530352" y="5833872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850">
                <a:solidFill>
                  <a:srgbClr val="94A3B8"/>
                </a:solidFill>
              </a:rPr>
              <a:t>Slide 6 of 12 | Rencipe Phase 1 demo plan</a:t>
            </a:r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56032"/>
            <a:ext cx="8869680" cy="475488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2850" b="1">
                <a:solidFill>
                  <a:srgbClr val="0F172A"/>
                </a:solidFill>
              </a:rPr>
              <a:t>Demo Flow 3: Search and Categories</a:t>
            </a:r>
            <a:endParaRPr lang="en-US"/>
          </a:p>
        </p:txBody>
      </p:sp>
      <p:sp>
        <p:nvSpPr>
          <p:cNvPr id="3" name="Subtitle"/>
          <p:cNvSpPr txBox="1"/>
          <p:nvPr/>
        </p:nvSpPr>
        <p:spPr>
          <a:xfrm>
            <a:off x="457200" y="768096"/>
            <a:ext cx="786384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1250">
                <a:solidFill>
                  <a:srgbClr val="475569"/>
                </a:solidFill>
              </a:rPr>
              <a:t>Separate live search from category browsing</a:t>
            </a:r>
            <a:endParaRPr lang="en-US"/>
          </a:p>
        </p:txBody>
      </p:sp>
      <p:sp>
        <p:nvSpPr>
          <p:cNvPr id="4" name="Time"/>
          <p:cNvSpPr txBox="1"/>
          <p:nvPr/>
        </p:nvSpPr>
        <p:spPr>
          <a:xfrm>
            <a:off x="9253728" y="749808"/>
            <a:ext cx="1417320" cy="320040"/>
          </a:xfrm>
          <a:prstGeom prst="roundRect">
            <a:avLst/>
          </a:prstGeom>
          <a:solidFill>
            <a:srgbClr val="EAF2FF"/>
          </a:solidFill>
          <a:ln>
            <a:noFill/>
          </a:ln>
        </p:spPr>
        <p:txBody>
          <a:bodyPr wrap="square" anchor="ctr" lIns="91440" tIns="45720" rIns="91440" bIns="45720"/>
          <a:lstStyle/>
          <a:p>
            <a:pPr algn="ctr"/>
            <a:r>
              <a:rPr lang="en-US" sz="1150" b="1">
                <a:solidFill>
                  <a:srgbClr val="2563EB"/>
                </a:solidFill>
              </a:rPr>
              <a:t>8:15-10:15</a:t>
            </a:r>
            <a:endParaRPr lang="en-US"/>
          </a:p>
        </p:txBody>
      </p:sp>
      <p:sp>
        <p:nvSpPr>
          <p:cNvPr id="5" name="Main content"/>
          <p:cNvSpPr txBox="1"/>
          <p:nvPr/>
        </p:nvSpPr>
        <p:spPr>
          <a:xfrm>
            <a:off x="530352" y="1325880"/>
            <a:ext cx="5349240" cy="4370832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1440" b="1">
                <a:solidFill>
                  <a:srgbClr val="0F172A"/>
                </a:solidFill>
              </a:rPr>
              <a:t>Show: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Use Search for live query results, history, and recommendations.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Use Categories for browse shortcuts and filter chips.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Open a recipe from either surface.</a:t>
            </a:r>
            <a:endParaRPr lang="en-US"/>
          </a:p>
          <a:p>
            <a:r>
              <a:rPr lang="en-US" sz="700"/>
              <a:t> </a:t>
            </a:r>
          </a:p>
          <a:p>
            <a:r>
              <a:rPr lang="en-US" sz="1440" b="1">
                <a:solidFill>
                  <a:srgbClr val="0F172A"/>
                </a:solidFill>
              </a:rPr>
              <a:t>Outcome to emphasize: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Search and category browsing are intentionally separate flows.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Phone-first browsing works through compact cards and centered icon shortcuts.</a:t>
            </a:r>
            <a:endParaRPr lang="en-US"/>
          </a:p>
        </p:txBody>
      </p:sp>
      <p:pic>
        <p:nvPicPr>
          <p:cNvPr id="9" name="ppt-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2256" y="1207008"/>
            <a:ext cx="2091527" cy="452628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  <p:pic>
        <p:nvPicPr>
          <p:cNvPr id="10" name="ppt-catego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3976" y="1207008"/>
            <a:ext cx="2091527" cy="452628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  <p:sp>
        <p:nvSpPr>
          <p:cNvPr id="20" name="Footer"/>
          <p:cNvSpPr txBox="1"/>
          <p:nvPr/>
        </p:nvSpPr>
        <p:spPr>
          <a:xfrm>
            <a:off x="530352" y="5833872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850">
                <a:solidFill>
                  <a:srgbClr val="94A3B8"/>
                </a:solidFill>
              </a:rPr>
              <a:t>Slide 7 of 12 | Rencipe Phase 1 demo plan</a:t>
            </a:r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56032"/>
            <a:ext cx="8869680" cy="475488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2850" b="1">
                <a:solidFill>
                  <a:srgbClr val="0F172A"/>
                </a:solidFill>
              </a:rPr>
              <a:t>Demo Flow 4: Saved Recipes and Cart</a:t>
            </a:r>
            <a:endParaRPr lang="en-US"/>
          </a:p>
        </p:txBody>
      </p:sp>
      <p:sp>
        <p:nvSpPr>
          <p:cNvPr id="3" name="Subtitle"/>
          <p:cNvSpPr txBox="1"/>
          <p:nvPr/>
        </p:nvSpPr>
        <p:spPr>
          <a:xfrm>
            <a:off x="457200" y="768096"/>
            <a:ext cx="786384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1250">
                <a:solidFill>
                  <a:srgbClr val="475569"/>
                </a:solidFill>
              </a:rPr>
              <a:t>Collect recipes before planning</a:t>
            </a:r>
            <a:endParaRPr lang="en-US"/>
          </a:p>
        </p:txBody>
      </p:sp>
      <p:sp>
        <p:nvSpPr>
          <p:cNvPr id="4" name="Time"/>
          <p:cNvSpPr txBox="1"/>
          <p:nvPr/>
        </p:nvSpPr>
        <p:spPr>
          <a:xfrm>
            <a:off x="9253728" y="749808"/>
            <a:ext cx="1417320" cy="320040"/>
          </a:xfrm>
          <a:prstGeom prst="roundRect">
            <a:avLst/>
          </a:prstGeom>
          <a:solidFill>
            <a:srgbClr val="EAF2FF"/>
          </a:solidFill>
          <a:ln>
            <a:noFill/>
          </a:ln>
        </p:spPr>
        <p:txBody>
          <a:bodyPr wrap="square" anchor="ctr" lIns="91440" tIns="45720" rIns="91440" bIns="45720"/>
          <a:lstStyle/>
          <a:p>
            <a:pPr algn="ctr"/>
            <a:r>
              <a:rPr lang="en-US" sz="1150" b="1">
                <a:solidFill>
                  <a:srgbClr val="2563EB"/>
                </a:solidFill>
              </a:rPr>
              <a:t>10:15-12:00</a:t>
            </a:r>
            <a:endParaRPr lang="en-US"/>
          </a:p>
        </p:txBody>
      </p:sp>
      <p:sp>
        <p:nvSpPr>
          <p:cNvPr id="5" name="Main content"/>
          <p:cNvSpPr txBox="1"/>
          <p:nvPr/>
        </p:nvSpPr>
        <p:spPr>
          <a:xfrm>
            <a:off x="530352" y="1325880"/>
            <a:ext cx="5349240" cy="4370832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1440" b="1">
                <a:solidFill>
                  <a:srgbClr val="0F172A"/>
                </a:solidFill>
              </a:rPr>
              <a:t>Show: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Save/favorite a recipe from Home or recipe detail.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Open Saved and search saved recipes.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Add recipes to the cart from Home.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Open the cart ingredient summary.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Checkout cart items into a Meal Plan.</a:t>
            </a:r>
            <a:endParaRPr lang="en-US"/>
          </a:p>
          <a:p>
            <a:r>
              <a:rPr lang="en-US" sz="700"/>
              <a:t> </a:t>
            </a:r>
          </a:p>
          <a:p>
            <a:r>
              <a:rPr lang="en-US" sz="1440" b="1">
                <a:solidFill>
                  <a:srgbClr val="0F172A"/>
                </a:solidFill>
              </a:rPr>
              <a:t>Outcome to emphasize: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Users can collect favorites and turn selected recipes into practical planning inputs.</a:t>
            </a:r>
            <a:endParaRPr lang="en-US"/>
          </a:p>
        </p:txBody>
      </p:sp>
      <p:pic>
        <p:nvPicPr>
          <p:cNvPr id="9" name="ppt-sav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3566" y="1143000"/>
            <a:ext cx="2154907" cy="466344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  <p:sp>
        <p:nvSpPr>
          <p:cNvPr id="20" name="Footer"/>
          <p:cNvSpPr txBox="1"/>
          <p:nvPr/>
        </p:nvSpPr>
        <p:spPr>
          <a:xfrm>
            <a:off x="530352" y="5833872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850">
                <a:solidFill>
                  <a:srgbClr val="94A3B8"/>
                </a:solidFill>
              </a:rPr>
              <a:t>Slide 8 of 12 | Rencipe Phase 1 demo plan</a:t>
            </a:r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56032"/>
            <a:ext cx="8869680" cy="475488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2850" b="1">
                <a:solidFill>
                  <a:srgbClr val="0F172A"/>
                </a:solidFill>
              </a:rPr>
              <a:t>Demo Flow 5: Recipe Creation and Drafts</a:t>
            </a:r>
            <a:endParaRPr lang="en-US"/>
          </a:p>
        </p:txBody>
      </p:sp>
      <p:sp>
        <p:nvSpPr>
          <p:cNvPr id="3" name="Subtitle"/>
          <p:cNvSpPr txBox="1"/>
          <p:nvPr/>
        </p:nvSpPr>
        <p:spPr>
          <a:xfrm>
            <a:off x="457200" y="768096"/>
            <a:ext cx="786384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1250">
                <a:solidFill>
                  <a:srgbClr val="475569"/>
                </a:solidFill>
              </a:rPr>
              <a:t>Recipe ownership and incomplete work protection</a:t>
            </a:r>
            <a:endParaRPr lang="en-US"/>
          </a:p>
        </p:txBody>
      </p:sp>
      <p:sp>
        <p:nvSpPr>
          <p:cNvPr id="4" name="Time"/>
          <p:cNvSpPr txBox="1"/>
          <p:nvPr/>
        </p:nvSpPr>
        <p:spPr>
          <a:xfrm>
            <a:off x="9253728" y="749808"/>
            <a:ext cx="1417320" cy="320040"/>
          </a:xfrm>
          <a:prstGeom prst="roundRect">
            <a:avLst/>
          </a:prstGeom>
          <a:solidFill>
            <a:srgbClr val="EAF2FF"/>
          </a:solidFill>
          <a:ln>
            <a:noFill/>
          </a:ln>
        </p:spPr>
        <p:txBody>
          <a:bodyPr wrap="square" anchor="ctr" lIns="91440" tIns="45720" rIns="91440" bIns="45720"/>
          <a:lstStyle/>
          <a:p>
            <a:pPr algn="ctr"/>
            <a:r>
              <a:rPr lang="en-US" sz="1150" b="1">
                <a:solidFill>
                  <a:srgbClr val="2563EB"/>
                </a:solidFill>
              </a:rPr>
              <a:t>12:00-14:00</a:t>
            </a:r>
            <a:endParaRPr lang="en-US"/>
          </a:p>
        </p:txBody>
      </p:sp>
      <p:sp>
        <p:nvSpPr>
          <p:cNvPr id="5" name="Main content"/>
          <p:cNvSpPr txBox="1"/>
          <p:nvPr/>
        </p:nvSpPr>
        <p:spPr>
          <a:xfrm>
            <a:off x="530352" y="1325880"/>
            <a:ext cx="10012680" cy="4370832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1440" b="1">
                <a:solidFill>
                  <a:srgbClr val="0F172A"/>
                </a:solidFill>
              </a:rPr>
              <a:t>Show: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Create a new recipe with title, description, health tag, ingredients, steps, servings, and image.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Let autosave capture the draft.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Open My Drafts from Settings and resume the incomplete recipe.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Publish after adding a cover image.</a:t>
            </a:r>
            <a:endParaRPr lang="en-US"/>
          </a:p>
          <a:p>
            <a:r>
              <a:rPr lang="en-US" sz="700"/>
              <a:t> </a:t>
            </a:r>
          </a:p>
          <a:p>
            <a:r>
              <a:rPr lang="en-US" sz="1440" b="1">
                <a:solidFill>
                  <a:srgbClr val="0F172A"/>
                </a:solidFill>
              </a:rPr>
              <a:t>Outcome to emphasize: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Rencipe is not browse-only; users can maintain their own recipe data.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Draft stability prevents losing in-progress work.</a:t>
            </a:r>
            <a:endParaRPr lang="en-US"/>
          </a:p>
        </p:txBody>
      </p:sp>
      <p:sp>
        <p:nvSpPr>
          <p:cNvPr id="20" name="Footer"/>
          <p:cNvSpPr txBox="1"/>
          <p:nvPr/>
        </p:nvSpPr>
        <p:spPr>
          <a:xfrm>
            <a:off x="530352" y="5833872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850">
                <a:solidFill>
                  <a:srgbClr val="94A3B8"/>
                </a:solidFill>
              </a:rPr>
              <a:t>Slide 9 of 12 | Rencipe Phase 1 demo plan</a:t>
            </a:r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56032"/>
            <a:ext cx="8869680" cy="475488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2850" b="1">
                <a:solidFill>
                  <a:srgbClr val="0F172A"/>
                </a:solidFill>
              </a:rPr>
              <a:t>Demo Flow 6: Meal Planning</a:t>
            </a:r>
            <a:endParaRPr lang="en-US"/>
          </a:p>
        </p:txBody>
      </p:sp>
      <p:sp>
        <p:nvSpPr>
          <p:cNvPr id="3" name="Subtitle"/>
          <p:cNvSpPr txBox="1"/>
          <p:nvPr/>
        </p:nvSpPr>
        <p:spPr>
          <a:xfrm>
            <a:off x="457200" y="768096"/>
            <a:ext cx="786384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1250">
                <a:solidFill>
                  <a:srgbClr val="475569"/>
                </a:solidFill>
              </a:rPr>
              <a:t>Main differentiator: recipes become plans</a:t>
            </a:r>
            <a:endParaRPr lang="en-US"/>
          </a:p>
        </p:txBody>
      </p:sp>
      <p:sp>
        <p:nvSpPr>
          <p:cNvPr id="4" name="Time"/>
          <p:cNvSpPr txBox="1"/>
          <p:nvPr/>
        </p:nvSpPr>
        <p:spPr>
          <a:xfrm>
            <a:off x="9253728" y="749808"/>
            <a:ext cx="1417320" cy="320040"/>
          </a:xfrm>
          <a:prstGeom prst="roundRect">
            <a:avLst/>
          </a:prstGeom>
          <a:solidFill>
            <a:srgbClr val="EAF2FF"/>
          </a:solidFill>
          <a:ln>
            <a:noFill/>
          </a:ln>
        </p:spPr>
        <p:txBody>
          <a:bodyPr wrap="square" anchor="ctr" lIns="91440" tIns="45720" rIns="91440" bIns="45720"/>
          <a:lstStyle/>
          <a:p>
            <a:pPr algn="ctr"/>
            <a:r>
              <a:rPr lang="en-US" sz="1150" b="1">
                <a:solidFill>
                  <a:srgbClr val="2563EB"/>
                </a:solidFill>
              </a:rPr>
              <a:t>14:00-17:00</a:t>
            </a:r>
            <a:endParaRPr lang="en-US"/>
          </a:p>
        </p:txBody>
      </p:sp>
      <p:sp>
        <p:nvSpPr>
          <p:cNvPr id="5" name="Main content"/>
          <p:cNvSpPr txBox="1"/>
          <p:nvPr/>
        </p:nvSpPr>
        <p:spPr>
          <a:xfrm>
            <a:off x="530352" y="1325880"/>
            <a:ext cx="5349240" cy="4370832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1440" b="1">
                <a:solidFill>
                  <a:srgbClr val="0F172A"/>
                </a:solidFill>
              </a:rPr>
              <a:t>Show: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Open Meal Plans.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Create or open a reusable Meal Plan.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Add component recipe combinations: protein, vegetable, and side.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Show cart-created recipe lists inside a plan.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Adjust people, days, portions, and inspect ingredient totals.</a:t>
            </a:r>
            <a:endParaRPr lang="en-US"/>
          </a:p>
          <a:p>
            <a:r>
              <a:rPr lang="en-US" sz="700"/>
              <a:t> </a:t>
            </a:r>
          </a:p>
          <a:p>
            <a:r>
              <a:rPr lang="en-US" sz="1440" b="1">
                <a:solidFill>
                  <a:srgbClr val="0F172A"/>
                </a:solidFill>
              </a:rPr>
              <a:t>Outcome to emphasize: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Meal planning connects recipes to real household portions and grocery prep.</a:t>
            </a:r>
            <a:endParaRPr lang="en-US"/>
          </a:p>
        </p:txBody>
      </p:sp>
      <p:pic>
        <p:nvPicPr>
          <p:cNvPr id="9" name="ppt-meal-pl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3566" y="1143000"/>
            <a:ext cx="2154907" cy="466344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  <p:sp>
        <p:nvSpPr>
          <p:cNvPr id="20" name="Footer"/>
          <p:cNvSpPr txBox="1"/>
          <p:nvPr/>
        </p:nvSpPr>
        <p:spPr>
          <a:xfrm>
            <a:off x="530352" y="5833872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850">
                <a:solidFill>
                  <a:srgbClr val="94A3B8"/>
                </a:solidFill>
              </a:rPr>
              <a:t>Slide 10 of 12 | Rencipe Phase 1 demo plan</a:t>
            </a:r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56032"/>
            <a:ext cx="8869680" cy="475488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2850" b="1">
                <a:solidFill>
                  <a:srgbClr val="0F172A"/>
                </a:solidFill>
              </a:rPr>
              <a:t>Validation and Testing Evidence</a:t>
            </a:r>
            <a:endParaRPr lang="en-US"/>
          </a:p>
        </p:txBody>
      </p:sp>
      <p:sp>
        <p:nvSpPr>
          <p:cNvPr id="3" name="Subtitle"/>
          <p:cNvSpPr txBox="1"/>
          <p:nvPr/>
        </p:nvSpPr>
        <p:spPr>
          <a:xfrm>
            <a:off x="457200" y="768096"/>
            <a:ext cx="786384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1250">
                <a:solidFill>
                  <a:srgbClr val="475569"/>
                </a:solidFill>
              </a:rPr>
              <a:t>What has been verified</a:t>
            </a:r>
            <a:endParaRPr lang="en-US"/>
          </a:p>
        </p:txBody>
      </p:sp>
      <p:sp>
        <p:nvSpPr>
          <p:cNvPr id="4" name="Time"/>
          <p:cNvSpPr txBox="1"/>
          <p:nvPr/>
        </p:nvSpPr>
        <p:spPr>
          <a:xfrm>
            <a:off x="9253728" y="749808"/>
            <a:ext cx="1417320" cy="320040"/>
          </a:xfrm>
          <a:prstGeom prst="roundRect">
            <a:avLst/>
          </a:prstGeom>
          <a:solidFill>
            <a:srgbClr val="EAF2FF"/>
          </a:solidFill>
          <a:ln>
            <a:noFill/>
          </a:ln>
        </p:spPr>
        <p:txBody>
          <a:bodyPr wrap="square" anchor="ctr" lIns="91440" tIns="45720" rIns="91440" bIns="45720"/>
          <a:lstStyle/>
          <a:p>
            <a:pPr algn="ctr"/>
            <a:r>
              <a:rPr lang="en-US" sz="1150" b="1">
                <a:solidFill>
                  <a:srgbClr val="2563EB"/>
                </a:solidFill>
              </a:rPr>
              <a:t>17:00-18:45</a:t>
            </a:r>
            <a:endParaRPr lang="en-US"/>
          </a:p>
        </p:txBody>
      </p:sp>
      <p:sp>
        <p:nvSpPr>
          <p:cNvPr id="5" name="Main content"/>
          <p:cNvSpPr txBox="1"/>
          <p:nvPr/>
        </p:nvSpPr>
        <p:spPr>
          <a:xfrm>
            <a:off x="530352" y="1325880"/>
            <a:ext cx="10012680" cy="4370832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1440" b="1">
                <a:solidFill>
                  <a:srgbClr val="0F172A"/>
                </a:solidFill>
              </a:rPr>
              <a:t>Build and deployment: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Backend build passes.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Frontend build passes.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PM2 reloads only rencipe-backend and rencipe-frontend.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Public URL returns HTTP/2 200; local ports 4000 and 6000 are listening.</a:t>
            </a:r>
            <a:endParaRPr lang="en-US"/>
          </a:p>
          <a:p>
            <a:r>
              <a:rPr lang="en-US" sz="700"/>
              <a:t> </a:t>
            </a:r>
          </a:p>
          <a:p>
            <a:r>
              <a:rPr lang="en-US" sz="1440" b="1">
                <a:solidFill>
                  <a:srgbClr val="0F172A"/>
                </a:solidFill>
              </a:rPr>
              <a:t>Playwright checks: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Login page has no ad panel.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Home has 10 public slides, no admin-private recommendations, Save and Add buttons.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Bottom nav remains full-height on mobile viewport.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Categories icons are centered.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Saved page has simple saved-search copy and no warning-style delete treatment.</a:t>
            </a:r>
            <a:endParaRPr lang="en-US"/>
          </a:p>
        </p:txBody>
      </p:sp>
      <p:sp>
        <p:nvSpPr>
          <p:cNvPr id="20" name="Footer"/>
          <p:cNvSpPr txBox="1"/>
          <p:nvPr/>
        </p:nvSpPr>
        <p:spPr>
          <a:xfrm>
            <a:off x="530352" y="5833872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850">
                <a:solidFill>
                  <a:srgbClr val="94A3B8"/>
                </a:solidFill>
              </a:rPr>
              <a:t>Slide 11 of 12 | Rencipe Phase 1 demo plan</a:t>
            </a:r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56032"/>
            <a:ext cx="8869680" cy="475488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2850" b="1">
                <a:solidFill>
                  <a:srgbClr val="0F172A"/>
                </a:solidFill>
              </a:rPr>
              <a:t>Conclusion and Next Steps</a:t>
            </a:r>
            <a:endParaRPr lang="en-US"/>
          </a:p>
        </p:txBody>
      </p:sp>
      <p:sp>
        <p:nvSpPr>
          <p:cNvPr id="3" name="Subtitle"/>
          <p:cNvSpPr txBox="1"/>
          <p:nvPr/>
        </p:nvSpPr>
        <p:spPr>
          <a:xfrm>
            <a:off x="457200" y="768096"/>
            <a:ext cx="786384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1250">
                <a:solidFill>
                  <a:srgbClr val="475569"/>
                </a:solidFill>
              </a:rPr>
              <a:t>Goal achievement and remaining Phase 1 work</a:t>
            </a:r>
            <a:endParaRPr lang="en-US"/>
          </a:p>
        </p:txBody>
      </p:sp>
      <p:sp>
        <p:nvSpPr>
          <p:cNvPr id="4" name="Time"/>
          <p:cNvSpPr txBox="1"/>
          <p:nvPr/>
        </p:nvSpPr>
        <p:spPr>
          <a:xfrm>
            <a:off x="9253728" y="749808"/>
            <a:ext cx="1417320" cy="320040"/>
          </a:xfrm>
          <a:prstGeom prst="roundRect">
            <a:avLst/>
          </a:prstGeom>
          <a:solidFill>
            <a:srgbClr val="EAF2FF"/>
          </a:solidFill>
          <a:ln>
            <a:noFill/>
          </a:ln>
        </p:spPr>
        <p:txBody>
          <a:bodyPr wrap="square" anchor="ctr" lIns="91440" tIns="45720" rIns="91440" bIns="45720"/>
          <a:lstStyle/>
          <a:p>
            <a:pPr algn="ctr"/>
            <a:r>
              <a:rPr lang="en-US" sz="1150" b="1">
                <a:solidFill>
                  <a:srgbClr val="2563EB"/>
                </a:solidFill>
              </a:rPr>
              <a:t>18:45-20:00</a:t>
            </a:r>
            <a:endParaRPr lang="en-US"/>
          </a:p>
        </p:txBody>
      </p:sp>
      <p:sp>
        <p:nvSpPr>
          <p:cNvPr id="5" name="Main content"/>
          <p:cNvSpPr txBox="1"/>
          <p:nvPr/>
        </p:nvSpPr>
        <p:spPr>
          <a:xfrm>
            <a:off x="530352" y="1325880"/>
            <a:ext cx="10012680" cy="4370832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1440" b="1">
                <a:solidFill>
                  <a:srgbClr val="0F172A"/>
                </a:solidFill>
              </a:rPr>
              <a:t>Achieved: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Recipe management, drafts, saved recipes, cart, search, categories, meal planning, auth, and deployment.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Private recipe visibility can be demonstrated with admin versus testuser1.</a:t>
            </a:r>
            <a:endParaRPr lang="en-US"/>
          </a:p>
          <a:p>
            <a:r>
              <a:rPr lang="en-US" sz="700"/>
              <a:t> </a:t>
            </a:r>
          </a:p>
          <a:p>
            <a:r>
              <a:rPr lang="en-US" sz="1440" b="1">
                <a:solidFill>
                  <a:srgbClr val="0F172A"/>
                </a:solidFill>
              </a:rPr>
              <a:t>Still needs rehearsal or scope decision: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Verify scaled meal-plan ingredient totals during the final walkthrough.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Decide how to present keto-specific features: small visible feature or future work.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Finish report sections and record the final presentation video.</a:t>
            </a:r>
            <a:endParaRPr lang="en-US"/>
          </a:p>
          <a:p>
            <a:r>
              <a:rPr lang="en-US" sz="700"/>
              <a:t> </a:t>
            </a:r>
          </a:p>
          <a:p>
            <a:r>
              <a:rPr lang="en-US" sz="1440" b="1">
                <a:solidFill>
                  <a:srgbClr val="0F172A"/>
                </a:solidFill>
              </a:rPr>
              <a:t>Closing success criteria:</a:t>
            </a:r>
            <a:endParaRPr lang="en-US"/>
          </a:p>
          <a:p>
            <a:r>
              <a:rPr lang="en-US" sz="1320">
                <a:solidFill>
                  <a:srgbClr val="334155"/>
                </a:solidFill>
              </a:rPr>
              <a:t>- A viewer can understand the problem, see the solution working, and tell which Phase 1 goals were achieved.</a:t>
            </a:r>
            <a:endParaRPr lang="en-US"/>
          </a:p>
        </p:txBody>
      </p:sp>
      <p:sp>
        <p:nvSpPr>
          <p:cNvPr id="20" name="Footer"/>
          <p:cNvSpPr txBox="1"/>
          <p:nvPr/>
        </p:nvSpPr>
        <p:spPr>
          <a:xfrm>
            <a:off x="530352" y="5833872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wrap="square" lIns="91440" tIns="73152" rIns="91440" bIns="73152"/>
          <a:lstStyle/>
          <a:p>
            <a:r>
              <a:rPr lang="en-US" sz="850">
                <a:solidFill>
                  <a:srgbClr val="94A3B8"/>
                </a:solidFill>
              </a:rPr>
              <a:t>Slide 12 of 12 | Rencipe Phase 1 demo plan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ncipe Theme">
  <a:themeElements>
    <a:clrScheme name="Rencipe">
      <a:dk1>
        <a:srgbClr val="0F172A"/>
      </a:dk1>
      <a:lt1>
        <a:srgbClr val="FFFFFF"/>
      </a:lt1>
      <a:dk2>
        <a:srgbClr val="334155"/>
      </a:dk2>
      <a:lt2>
        <a:srgbClr val="F8FAFC"/>
      </a:lt2>
      <a:accent1>
        <a:srgbClr val="0F766E"/>
      </a:accent1>
      <a:accent2>
        <a:srgbClr val="2563EB"/>
      </a:accent2>
      <a:accent3>
        <a:srgbClr val="7C3AED"/>
      </a:accent3>
      <a:accent4>
        <a:srgbClr val="EA580C"/>
      </a:accent4>
      <a:accent5>
        <a:srgbClr val="16A34A"/>
      </a:accent5>
      <a:accent6>
        <a:srgbClr val="DC2626"/>
      </a:accent6>
      <a:hlink>
        <a:srgbClr val="2563EB"/>
      </a:hlink>
      <a:folHlink>
        <a:srgbClr val="7C3AED"/>
      </a:folHlink>
    </a:clrScheme>
    <a:fontScheme name="Aptos">
      <a:majorFont>
        <a:latin typeface="Aptos Display"/>
      </a:majorFont>
      <a:minorFont>
        <a:latin typeface="Aptos"/>
      </a:minorFont>
    </a:fontScheme>
    <a:fmtScheme name="Rencipe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GitHub Copilot</Application>
  <PresentationFormat>On-screen Show (16:9)</PresentationFormat>
  <Slides>12</Slides>
  <Company>Rencipe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Rencipe Phase 1 Demo Plan</dc:title>
  <dc:subject>CPSC 597 20-minute demo slide map</dc:subject>
  <dc:creator>GitHub Copilot</dc:creator>
  <cp:lastModifiedBy>GitHub Copilot</cp:lastModifiedBy>
  <dcterms:created xsi:type="dcterms:W3CDTF">2026-05-03T06:15:48Z</dcterms:created>
  <dcterms:modified xsi:type="dcterms:W3CDTF">2026-05-03T06:15:48Z</dcterms:modified>
</cp:coreProperties>
</file>