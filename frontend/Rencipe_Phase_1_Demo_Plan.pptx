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 type="wide"/>
  <p:notesSz cx="6858000" cy="9144000"/>
  <p:defaultTextStyle>
    <a:defPPr>
      <a:defRPr lang="en-US"/>
    </a:defPPr>
  </p:defaultTextStyle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274320"/>
            <a:ext cx="1112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3000" b="1">
                <a:solidFill>
                  <a:srgbClr val="0F172A"/>
                </a:solidFill>
              </a:rPr>
              <a:t>Rencipe Phase 1 Demo Plan</a:t>
            </a:r>
            <a:endParaRPr lang="en-US"/>
          </a:p>
        </p:txBody>
      </p:sp>
      <p:sp>
        <p:nvSpPr>
          <p:cNvPr id="3" name="Subtitle"/>
          <p:cNvSpPr txBox="1"/>
          <p:nvPr/>
        </p:nvSpPr>
        <p:spPr>
          <a:xfrm>
            <a:off x="548640" y="822960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1450">
                <a:solidFill>
                  <a:srgbClr val="475569"/>
                </a:solidFill>
              </a:rPr>
              <a:t>20-minute CPSC 597 project presentation and demo map</a:t>
            </a:r>
            <a:endParaRPr lang="en-US"/>
          </a:p>
        </p:txBody>
      </p:sp>
      <p:sp>
        <p:nvSpPr>
          <p:cNvPr id="4" name="Time"/>
          <p:cNvSpPr txBox="1"/>
          <p:nvPr/>
        </p:nvSpPr>
        <p:spPr>
          <a:xfrm>
            <a:off x="10149840" y="822960"/>
            <a:ext cx="1463040" cy="365760"/>
          </a:xfrm>
          <a:prstGeom prst="roundRect">
            <a:avLst/>
          </a:prstGeom>
          <a:solidFill>
            <a:srgbClr val="CCFBF1"/>
          </a:solidFill>
          <a:ln w="12700">
            <a:solidFill>
              <a:srgbClr val="5EEAD4"/>
            </a:solidFill>
          </a:ln>
        </p:spPr>
        <p:txBody>
          <a:bodyPr wrap="square" lIns="91440" tIns="73152" rIns="91440" bIns="73152"/>
          <a:lstStyle/>
          <a:p>
            <a:r>
              <a:rPr lang="en-US" sz="1350" b="1">
                <a:solidFill>
                  <a:srgbClr val="0F766E"/>
                </a:solidFill>
              </a:rPr>
              <a:t>0:00-0:45</a:t>
            </a:r>
            <a:endParaRPr lang="en-US"/>
          </a:p>
        </p:txBody>
      </p:sp>
      <p:sp>
        <p:nvSpPr>
          <p:cNvPr id="5" name="Key message"/>
          <p:cNvSpPr txBox="1"/>
          <p:nvPr/>
        </p:nvSpPr>
        <p:spPr>
          <a:xfrm>
            <a:off x="548640" y="1463040"/>
            <a:ext cx="53644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91440" tIns="73152" rIns="91440" bIns="73152"/>
          <a:lstStyle/>
          <a:p>
            <a:r>
              <a:rPr lang="en-US" sz="1750" b="1">
                <a:solidFill>
                  <a:srgbClr val="0F766E"/>
                </a:solidFill>
              </a:rPr>
              <a:t>Key message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Rencipe connects recipe sharing with practical household meal planning.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The demo proves core recipe, planning, organizing, and deployment outcomes.</a:t>
            </a:r>
            <a:endParaRPr lang="en-US"/>
          </a:p>
        </p:txBody>
      </p:sp>
      <p:sp>
        <p:nvSpPr>
          <p:cNvPr id="6" name="Required output"/>
          <p:cNvSpPr txBox="1"/>
          <p:nvPr/>
        </p:nvSpPr>
        <p:spPr>
          <a:xfrm>
            <a:off x="6396120" y="1463040"/>
            <a:ext cx="53644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91440" tIns="73152" rIns="91440" bIns="73152"/>
          <a:lstStyle/>
          <a:p>
            <a:r>
              <a:rPr lang="en-US" sz="1750" b="1">
                <a:solidFill>
                  <a:srgbClr val="2563EB"/>
                </a:solidFill>
              </a:rPr>
              <a:t>Required output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PowerPoint deck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Recorded video presentation, such as MP4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Project outcomes demo within about 20 minutes</a:t>
            </a:r>
            <a:endParaRPr lang="en-US"/>
          </a:p>
        </p:txBody>
      </p:sp>
      <p:sp>
        <p:nvSpPr>
          <p:cNvPr id="7" name="Footer"/>
          <p:cNvSpPr txBox="1"/>
          <p:nvPr/>
        </p:nvSpPr>
        <p:spPr>
          <a:xfrm>
            <a:off x="548640" y="6309360"/>
            <a:ext cx="1112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950">
                <a:solidFill>
                  <a:srgbClr val="64748B"/>
                </a:solidFill>
              </a:rPr>
              <a:t>Slide 1 of 12 | Rencipe Phase 1 demo plan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274320"/>
            <a:ext cx="1112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3000" b="1">
                <a:solidFill>
                  <a:srgbClr val="0F172A"/>
                </a:solidFill>
              </a:rPr>
              <a:t>Background, Motivation, and Problem</a:t>
            </a:r>
            <a:endParaRPr lang="en-US"/>
          </a:p>
        </p:txBody>
      </p:sp>
      <p:sp>
        <p:nvSpPr>
          <p:cNvPr id="3" name="Subtitle"/>
          <p:cNvSpPr txBox="1"/>
          <p:nvPr/>
        </p:nvSpPr>
        <p:spPr>
          <a:xfrm>
            <a:off x="548640" y="822960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1450">
                <a:solidFill>
                  <a:srgbClr val="475569"/>
                </a:solidFill>
              </a:rPr>
              <a:t>Why the project exists</a:t>
            </a:r>
            <a:endParaRPr lang="en-US"/>
          </a:p>
        </p:txBody>
      </p:sp>
      <p:sp>
        <p:nvSpPr>
          <p:cNvPr id="4" name="Time"/>
          <p:cNvSpPr txBox="1"/>
          <p:nvPr/>
        </p:nvSpPr>
        <p:spPr>
          <a:xfrm>
            <a:off x="10149840" y="822960"/>
            <a:ext cx="1463040" cy="365760"/>
          </a:xfrm>
          <a:prstGeom prst="roundRect">
            <a:avLst/>
          </a:prstGeom>
          <a:solidFill>
            <a:srgbClr val="CCFBF1"/>
          </a:solidFill>
          <a:ln w="12700">
            <a:solidFill>
              <a:srgbClr val="5EEAD4"/>
            </a:solidFill>
          </a:ln>
        </p:spPr>
        <p:txBody>
          <a:bodyPr wrap="square" lIns="91440" tIns="73152" rIns="91440" bIns="73152"/>
          <a:lstStyle/>
          <a:p>
            <a:r>
              <a:rPr lang="en-US" sz="1350" b="1">
                <a:solidFill>
                  <a:srgbClr val="0F766E"/>
                </a:solidFill>
              </a:rPr>
              <a:t>0:45-2:15</a:t>
            </a:r>
            <a:endParaRPr lang="en-US"/>
          </a:p>
        </p:txBody>
      </p:sp>
      <p:sp>
        <p:nvSpPr>
          <p:cNvPr id="5" name="Background"/>
          <p:cNvSpPr txBox="1"/>
          <p:nvPr/>
        </p:nvSpPr>
        <p:spPr>
          <a:xfrm>
            <a:off x="548640" y="1463040"/>
            <a:ext cx="35356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91440" tIns="73152" rIns="91440" bIns="73152"/>
          <a:lstStyle/>
          <a:p>
            <a:r>
              <a:rPr lang="en-US" sz="1750" b="1">
                <a:solidFill>
                  <a:srgbClr val="0F766E"/>
                </a:solidFill>
              </a:rPr>
              <a:t>Background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Recipes are scattered across websites, notes, videos, and family habits.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Most recipe sites help people browse, but not carry recipes into weekly preparation.</a:t>
            </a:r>
            <a:endParaRPr lang="en-US"/>
          </a:p>
        </p:txBody>
      </p:sp>
      <p:sp>
        <p:nvSpPr>
          <p:cNvPr id="6" name="Problem"/>
          <p:cNvSpPr txBox="1"/>
          <p:nvPr/>
        </p:nvSpPr>
        <p:spPr>
          <a:xfrm>
            <a:off x="4267200" y="1463040"/>
            <a:ext cx="35356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91440" tIns="73152" rIns="91440" bIns="73152"/>
          <a:lstStyle/>
          <a:p>
            <a:r>
              <a:rPr lang="en-US" sz="1750" b="1">
                <a:solidFill>
                  <a:srgbClr val="2563EB"/>
                </a:solidFill>
              </a:rPr>
              <a:t>Problem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Meal planning, grocery prep, and portion adjustment are still mostly manual.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Households need a tool that links recipes to realistic planning and shopping.</a:t>
            </a:r>
            <a:endParaRPr lang="en-US"/>
          </a:p>
        </p:txBody>
      </p:sp>
      <p:sp>
        <p:nvSpPr>
          <p:cNvPr id="7" name="Significance"/>
          <p:cNvSpPr txBox="1"/>
          <p:nvPr/>
        </p:nvSpPr>
        <p:spPr>
          <a:xfrm>
            <a:off x="7975760" y="1463040"/>
            <a:ext cx="35356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91440" tIns="73152" rIns="91440" bIns="73152"/>
          <a:lstStyle/>
          <a:p>
            <a:r>
              <a:rPr lang="en-US" sz="1750" b="1">
                <a:solidFill>
                  <a:srgbClr val="7C3AED"/>
                </a:solidFill>
              </a:rPr>
              <a:t>Significance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Reduce planning chaos.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Save grocery-shopping time.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Support healthier, repeatable meal preparation.</a:t>
            </a:r>
            <a:endParaRPr lang="en-US"/>
          </a:p>
        </p:txBody>
      </p:sp>
      <p:sp>
        <p:nvSpPr>
          <p:cNvPr id="8" name="Footer"/>
          <p:cNvSpPr txBox="1"/>
          <p:nvPr/>
        </p:nvSpPr>
        <p:spPr>
          <a:xfrm>
            <a:off x="548640" y="6309360"/>
            <a:ext cx="1112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950">
                <a:solidFill>
                  <a:srgbClr val="64748B"/>
                </a:solidFill>
              </a:rPr>
              <a:t>Slide 2 of 12 | Rencipe Phase 1 demo plan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274320"/>
            <a:ext cx="1112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3000" b="1">
                <a:solidFill>
                  <a:srgbClr val="0F172A"/>
                </a:solidFill>
              </a:rPr>
              <a:t>Goals and Success Criteria</a:t>
            </a:r>
            <a:endParaRPr lang="en-US"/>
          </a:p>
        </p:txBody>
      </p:sp>
      <p:sp>
        <p:nvSpPr>
          <p:cNvPr id="3" name="Subtitle"/>
          <p:cNvSpPr txBox="1"/>
          <p:nvPr/>
        </p:nvSpPr>
        <p:spPr>
          <a:xfrm>
            <a:off x="548640" y="822960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1450">
                <a:solidFill>
                  <a:srgbClr val="475569"/>
                </a:solidFill>
              </a:rPr>
              <a:t>What the demo should prove</a:t>
            </a:r>
            <a:endParaRPr lang="en-US"/>
          </a:p>
        </p:txBody>
      </p:sp>
      <p:sp>
        <p:nvSpPr>
          <p:cNvPr id="4" name="Time"/>
          <p:cNvSpPr txBox="1"/>
          <p:nvPr/>
        </p:nvSpPr>
        <p:spPr>
          <a:xfrm>
            <a:off x="10149840" y="822960"/>
            <a:ext cx="1463040" cy="365760"/>
          </a:xfrm>
          <a:prstGeom prst="roundRect">
            <a:avLst/>
          </a:prstGeom>
          <a:solidFill>
            <a:srgbClr val="CCFBF1"/>
          </a:solidFill>
          <a:ln w="12700">
            <a:solidFill>
              <a:srgbClr val="5EEAD4"/>
            </a:solidFill>
          </a:ln>
        </p:spPr>
        <p:txBody>
          <a:bodyPr wrap="square" lIns="91440" tIns="73152" rIns="91440" bIns="73152"/>
          <a:lstStyle/>
          <a:p>
            <a:r>
              <a:rPr lang="en-US" sz="1350" b="1">
                <a:solidFill>
                  <a:srgbClr val="0F766E"/>
                </a:solidFill>
              </a:rPr>
              <a:t>2:15-3:30</a:t>
            </a:r>
            <a:endParaRPr lang="en-US"/>
          </a:p>
        </p:txBody>
      </p:sp>
      <p:sp>
        <p:nvSpPr>
          <p:cNvPr id="5" name="Project goals"/>
          <p:cNvSpPr txBox="1"/>
          <p:nvPr/>
        </p:nvSpPr>
        <p:spPr>
          <a:xfrm>
            <a:off x="548640" y="1463040"/>
            <a:ext cx="53644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91440" tIns="73152" rIns="91440" bIns="73152"/>
          <a:lstStyle/>
          <a:p>
            <a:r>
              <a:rPr lang="en-US" sz="1750" b="1">
                <a:solidFill>
                  <a:srgbClr val="0F766E"/>
                </a:solidFill>
              </a:rPr>
              <a:t>Project goals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Recipe management with CRUD and image upload.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Meal planning with flexible days, meal types, and portion scaling.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Supporting features: saved recipes, cart, drafts, weekly scheduler.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Live deployment with SSL/TLS, Nginx, and PM2.</a:t>
            </a:r>
            <a:endParaRPr lang="en-US"/>
          </a:p>
        </p:txBody>
      </p:sp>
      <p:sp>
        <p:nvSpPr>
          <p:cNvPr id="6" name="Success criteria"/>
          <p:cNvSpPr txBox="1"/>
          <p:nvPr/>
        </p:nvSpPr>
        <p:spPr>
          <a:xfrm>
            <a:off x="6396120" y="1463040"/>
            <a:ext cx="53644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91440" tIns="73152" rIns="91440" bIns="73152"/>
          <a:lstStyle/>
          <a:p>
            <a:r>
              <a:rPr lang="en-US" sz="1750" b="1">
                <a:solidFill>
                  <a:srgbClr val="2563EB"/>
                </a:solidFill>
              </a:rPr>
              <a:t>Success criteria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Create and find a recipe.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Resume an incomplete draft.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Save recipes and use the cart.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Build a meal plan and inspect ingredient totals.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Schedule meals for the week.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Show the live deployed app.</a:t>
            </a:r>
            <a:endParaRPr lang="en-US"/>
          </a:p>
        </p:txBody>
      </p:sp>
      <p:sp>
        <p:nvSpPr>
          <p:cNvPr id="7" name="Footer"/>
          <p:cNvSpPr txBox="1"/>
          <p:nvPr/>
        </p:nvSpPr>
        <p:spPr>
          <a:xfrm>
            <a:off x="548640" y="6309360"/>
            <a:ext cx="1112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950">
                <a:solidFill>
                  <a:srgbClr val="64748B"/>
                </a:solidFill>
              </a:rPr>
              <a:t>Slide 3 of 12 | Rencipe Phase 1 demo plan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274320"/>
            <a:ext cx="1112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3000" b="1">
                <a:solidFill>
                  <a:srgbClr val="0F172A"/>
                </a:solidFill>
              </a:rPr>
              <a:t>System Architecture</a:t>
            </a:r>
            <a:endParaRPr lang="en-US"/>
          </a:p>
        </p:txBody>
      </p:sp>
      <p:sp>
        <p:nvSpPr>
          <p:cNvPr id="3" name="Subtitle"/>
          <p:cNvSpPr txBox="1"/>
          <p:nvPr/>
        </p:nvSpPr>
        <p:spPr>
          <a:xfrm>
            <a:off x="548640" y="822960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1450">
                <a:solidFill>
                  <a:srgbClr val="475569"/>
                </a:solidFill>
              </a:rPr>
              <a:t>Approach and deployed environment</a:t>
            </a:r>
            <a:endParaRPr lang="en-US"/>
          </a:p>
        </p:txBody>
      </p:sp>
      <p:sp>
        <p:nvSpPr>
          <p:cNvPr id="4" name="Time"/>
          <p:cNvSpPr txBox="1"/>
          <p:nvPr/>
        </p:nvSpPr>
        <p:spPr>
          <a:xfrm>
            <a:off x="10149840" y="822960"/>
            <a:ext cx="1463040" cy="365760"/>
          </a:xfrm>
          <a:prstGeom prst="roundRect">
            <a:avLst/>
          </a:prstGeom>
          <a:solidFill>
            <a:srgbClr val="CCFBF1"/>
          </a:solidFill>
          <a:ln w="12700">
            <a:solidFill>
              <a:srgbClr val="5EEAD4"/>
            </a:solidFill>
          </a:ln>
        </p:spPr>
        <p:txBody>
          <a:bodyPr wrap="square" lIns="91440" tIns="73152" rIns="91440" bIns="73152"/>
          <a:lstStyle/>
          <a:p>
            <a:r>
              <a:rPr lang="en-US" sz="1350" b="1">
                <a:solidFill>
                  <a:srgbClr val="0F766E"/>
                </a:solidFill>
              </a:rPr>
              <a:t>3:30-5:00</a:t>
            </a:r>
            <a:endParaRPr lang="en-US"/>
          </a:p>
        </p:txBody>
      </p:sp>
      <p:sp>
        <p:nvSpPr>
          <p:cNvPr id="5" name="Runtime flow"/>
          <p:cNvSpPr txBox="1"/>
          <p:nvPr/>
        </p:nvSpPr>
        <p:spPr>
          <a:xfrm>
            <a:off x="548640" y="1463040"/>
            <a:ext cx="53644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91440" tIns="73152" rIns="91440" bIns="73152"/>
          <a:lstStyle/>
          <a:p>
            <a:r>
              <a:rPr lang="en-US" sz="1750" b="1">
                <a:solidFill>
                  <a:srgbClr val="0F766E"/>
                </a:solidFill>
              </a:rPr>
              <a:t>Runtime flow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Browser -&gt; Nginx / SSL -&gt; Next.js frontend on port 4000.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Nginx /api proxy -&gt; Express backend on port 6000.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Backend persists data in MongoDB and stores uploaded images in Cloudinary.</a:t>
            </a:r>
            <a:endParaRPr lang="en-US"/>
          </a:p>
        </p:txBody>
      </p:sp>
      <p:sp>
        <p:nvSpPr>
          <p:cNvPr id="6" name="Implementation stack"/>
          <p:cNvSpPr txBox="1"/>
          <p:nvPr/>
        </p:nvSpPr>
        <p:spPr>
          <a:xfrm>
            <a:off x="6396120" y="1463040"/>
            <a:ext cx="53644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91440" tIns="73152" rIns="91440" bIns="73152"/>
          <a:lstStyle/>
          <a:p>
            <a:r>
              <a:rPr lang="en-US" sz="1750" b="1">
                <a:solidFill>
                  <a:srgbClr val="2563EB"/>
                </a:solidFill>
              </a:rPr>
              <a:t>Implementation stack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Frontend: Next.js, React, TypeScript, CSS Modules.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Backend: Node.js, Express, TypeScript, Mongoose.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Deployment: Oracle VM, PM2, Nginx reverse proxy, registered domain.</a:t>
            </a:r>
            <a:endParaRPr lang="en-US"/>
          </a:p>
        </p:txBody>
      </p:sp>
      <p:sp>
        <p:nvSpPr>
          <p:cNvPr id="7" name="Footer"/>
          <p:cNvSpPr txBox="1"/>
          <p:nvPr/>
        </p:nvSpPr>
        <p:spPr>
          <a:xfrm>
            <a:off x="548640" y="6309360"/>
            <a:ext cx="1112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950">
                <a:solidFill>
                  <a:srgbClr val="64748B"/>
                </a:solidFill>
              </a:rPr>
              <a:t>Slide 4 of 12 | Rencipe Phase 1 demo plan</a:t>
            </a:r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274320"/>
            <a:ext cx="1112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3000" b="1">
                <a:solidFill>
                  <a:srgbClr val="0F172A"/>
                </a:solidFill>
              </a:rPr>
              <a:t>Feature Inventory: Already Built</a:t>
            </a:r>
            <a:endParaRPr lang="en-US"/>
          </a:p>
        </p:txBody>
      </p:sp>
      <p:sp>
        <p:nvSpPr>
          <p:cNvPr id="3" name="Subtitle"/>
          <p:cNvSpPr txBox="1"/>
          <p:nvPr/>
        </p:nvSpPr>
        <p:spPr>
          <a:xfrm>
            <a:off x="548640" y="822960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1450">
                <a:solidFill>
                  <a:srgbClr val="475569"/>
                </a:solidFill>
              </a:rPr>
              <a:t>Demo-ready feature surface</a:t>
            </a:r>
            <a:endParaRPr lang="en-US"/>
          </a:p>
        </p:txBody>
      </p:sp>
      <p:sp>
        <p:nvSpPr>
          <p:cNvPr id="4" name="Time"/>
          <p:cNvSpPr txBox="1"/>
          <p:nvPr/>
        </p:nvSpPr>
        <p:spPr>
          <a:xfrm>
            <a:off x="10149840" y="822960"/>
            <a:ext cx="1463040" cy="365760"/>
          </a:xfrm>
          <a:prstGeom prst="roundRect">
            <a:avLst/>
          </a:prstGeom>
          <a:solidFill>
            <a:srgbClr val="CCFBF1"/>
          </a:solidFill>
          <a:ln w="12700">
            <a:solidFill>
              <a:srgbClr val="5EEAD4"/>
            </a:solidFill>
          </a:ln>
        </p:spPr>
        <p:txBody>
          <a:bodyPr wrap="square" lIns="91440" tIns="73152" rIns="91440" bIns="73152"/>
          <a:lstStyle/>
          <a:p>
            <a:r>
              <a:rPr lang="en-US" sz="1350" b="1">
                <a:solidFill>
                  <a:srgbClr val="0F766E"/>
                </a:solidFill>
              </a:rPr>
              <a:t>5:00-6:45</a:t>
            </a:r>
            <a:endParaRPr lang="en-US"/>
          </a:p>
        </p:txBody>
      </p:sp>
      <p:sp>
        <p:nvSpPr>
          <p:cNvPr id="5" name="Recipe management"/>
          <p:cNvSpPr txBox="1"/>
          <p:nvPr/>
        </p:nvSpPr>
        <p:spPr>
          <a:xfrm>
            <a:off x="548640" y="1463040"/>
            <a:ext cx="35356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91440" tIns="73152" rIns="91440" bIns="73152"/>
          <a:lstStyle/>
          <a:p>
            <a:r>
              <a:rPr lang="en-US" sz="1750" b="1">
                <a:solidFill>
                  <a:srgbClr val="0F766E"/>
                </a:solidFill>
              </a:rPr>
              <a:t>Recipe management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Browse recipes.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View recipe details.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Create, edit, and delete recipes.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Upload cover and step images.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Mark component recipes for meal planning.</a:t>
            </a:r>
            <a:endParaRPr lang="en-US"/>
          </a:p>
        </p:txBody>
      </p:sp>
      <p:sp>
        <p:nvSpPr>
          <p:cNvPr id="6" name="Organization"/>
          <p:cNvSpPr txBox="1"/>
          <p:nvPr/>
        </p:nvSpPr>
        <p:spPr>
          <a:xfrm>
            <a:off x="4267200" y="1463040"/>
            <a:ext cx="35356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91440" tIns="73152" rIns="91440" bIns="73152"/>
          <a:lstStyle/>
          <a:p>
            <a:r>
              <a:rPr lang="en-US" sz="1750" b="1">
                <a:solidFill>
                  <a:srgbClr val="2563EB"/>
                </a:solidFill>
              </a:rPr>
              <a:t>Organization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Auto-save drafts.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Saved/favorite recipes.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Shopping cart for selected recipes.</a:t>
            </a:r>
            <a:endParaRPr lang="en-US"/>
          </a:p>
        </p:txBody>
      </p:sp>
      <p:sp>
        <p:nvSpPr>
          <p:cNvPr id="7" name="Planning"/>
          <p:cNvSpPr txBox="1"/>
          <p:nvPr/>
        </p:nvSpPr>
        <p:spPr>
          <a:xfrm>
            <a:off x="7975760" y="1463040"/>
            <a:ext cx="35356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91440" tIns="73152" rIns="91440" bIns="73152"/>
          <a:lstStyle/>
          <a:p>
            <a:r>
              <a:rPr lang="en-US" sz="1750" b="1">
                <a:solidFill>
                  <a:srgbClr val="7C3AED"/>
                </a:solidFill>
              </a:rPr>
              <a:t>Planning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Meal plans with people, modifiers, days, meal types, combinations, and ingredient totals.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Weekly scheduler with editable meal slots.</a:t>
            </a:r>
            <a:endParaRPr lang="en-US"/>
          </a:p>
        </p:txBody>
      </p:sp>
      <p:sp>
        <p:nvSpPr>
          <p:cNvPr id="8" name="Footer"/>
          <p:cNvSpPr txBox="1"/>
          <p:nvPr/>
        </p:nvSpPr>
        <p:spPr>
          <a:xfrm>
            <a:off x="548640" y="6309360"/>
            <a:ext cx="1112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950">
                <a:solidFill>
                  <a:srgbClr val="64748B"/>
                </a:solidFill>
              </a:rPr>
              <a:t>Slide 5 of 12 | Rencipe Phase 1 demo plan</a:t>
            </a:r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274320"/>
            <a:ext cx="1112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3000" b="1">
                <a:solidFill>
                  <a:srgbClr val="0F172A"/>
                </a:solidFill>
              </a:rPr>
              <a:t>Phase 1 Work Items</a:t>
            </a:r>
            <a:endParaRPr lang="en-US"/>
          </a:p>
        </p:txBody>
      </p:sp>
      <p:sp>
        <p:nvSpPr>
          <p:cNvPr id="3" name="Subtitle"/>
          <p:cNvSpPr txBox="1"/>
          <p:nvPr/>
        </p:nvSpPr>
        <p:spPr>
          <a:xfrm>
            <a:off x="548640" y="822960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1450">
                <a:solidFill>
                  <a:srgbClr val="475569"/>
                </a:solidFill>
              </a:rPr>
              <a:t>Features and polish still needed before recording</a:t>
            </a:r>
            <a:endParaRPr lang="en-US"/>
          </a:p>
        </p:txBody>
      </p:sp>
      <p:sp>
        <p:nvSpPr>
          <p:cNvPr id="4" name="Time"/>
          <p:cNvSpPr txBox="1"/>
          <p:nvPr/>
        </p:nvSpPr>
        <p:spPr>
          <a:xfrm>
            <a:off x="10149840" y="822960"/>
            <a:ext cx="1463040" cy="365760"/>
          </a:xfrm>
          <a:prstGeom prst="roundRect">
            <a:avLst/>
          </a:prstGeom>
          <a:solidFill>
            <a:srgbClr val="CCFBF1"/>
          </a:solidFill>
          <a:ln w="12700">
            <a:solidFill>
              <a:srgbClr val="5EEAD4"/>
            </a:solidFill>
          </a:ln>
        </p:spPr>
        <p:txBody>
          <a:bodyPr wrap="square" lIns="91440" tIns="73152" rIns="91440" bIns="73152"/>
          <a:lstStyle/>
          <a:p>
            <a:r>
              <a:rPr lang="en-US" sz="1350" b="1">
                <a:solidFill>
                  <a:srgbClr val="0F766E"/>
                </a:solidFill>
              </a:rPr>
              <a:t>6:45-8:15</a:t>
            </a:r>
            <a:endParaRPr lang="en-US"/>
          </a:p>
        </p:txBody>
      </p:sp>
      <p:sp>
        <p:nvSpPr>
          <p:cNvPr id="5" name="Must finish"/>
          <p:cNvSpPr txBox="1"/>
          <p:nvPr/>
        </p:nvSpPr>
        <p:spPr>
          <a:xfrm>
            <a:off x="548640" y="1463040"/>
            <a:ext cx="35356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91440" tIns="73152" rIns="91440" bIns="73152"/>
          <a:lstStyle/>
          <a:p>
            <a:r>
              <a:rPr lang="en-US" sz="1750" b="1">
                <a:solidFill>
                  <a:srgbClr val="0F766E"/>
                </a:solidFill>
              </a:rPr>
              <a:t>Must finish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Full English UI pass across demo routes.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Fix and verify ingredient checklist persistence.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Create reliable demo seed data.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Responsive pass for desktop and mobile demo paths.</a:t>
            </a:r>
            <a:endParaRPr lang="en-US"/>
          </a:p>
        </p:txBody>
      </p:sp>
      <p:sp>
        <p:nvSpPr>
          <p:cNvPr id="6" name="Scope decisions"/>
          <p:cNvSpPr txBox="1"/>
          <p:nvPr/>
        </p:nvSpPr>
        <p:spPr>
          <a:xfrm>
            <a:off x="4267200" y="1463040"/>
            <a:ext cx="35356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91440" tIns="73152" rIns="91440" bIns="73152"/>
          <a:lstStyle/>
          <a:p>
            <a:r>
              <a:rPr lang="en-US" sz="1750" b="1">
                <a:solidFill>
                  <a:srgbClr val="2563EB"/>
                </a:solidFill>
              </a:rPr>
              <a:t>Scope decisions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Auth/JWT/account flow: implement minimum viable version or present as not achieved.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Keto features: add a small visible feature or clearly defer as future work.</a:t>
            </a:r>
            <a:endParaRPr lang="en-US"/>
          </a:p>
        </p:txBody>
      </p:sp>
      <p:sp>
        <p:nvSpPr>
          <p:cNvPr id="7" name="Report support"/>
          <p:cNvSpPr txBox="1"/>
          <p:nvPr/>
        </p:nvSpPr>
        <p:spPr>
          <a:xfrm>
            <a:off x="7975760" y="1463040"/>
            <a:ext cx="35356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91440" tIns="73152" rIns="91440" bIns="73152"/>
          <a:lstStyle/>
          <a:p>
            <a:r>
              <a:rPr lang="en-US" sz="1750" b="1">
                <a:solidFill>
                  <a:srgbClr val="7C3AED"/>
                </a:solidFill>
              </a:rPr>
              <a:t>Report support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Complete incomplete report sections.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Align presentation claims with tested app behavior.</a:t>
            </a:r>
            <a:endParaRPr lang="en-US"/>
          </a:p>
        </p:txBody>
      </p:sp>
      <p:sp>
        <p:nvSpPr>
          <p:cNvPr id="8" name="Footer"/>
          <p:cNvSpPr txBox="1"/>
          <p:nvPr/>
        </p:nvSpPr>
        <p:spPr>
          <a:xfrm>
            <a:off x="548640" y="6309360"/>
            <a:ext cx="1112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950">
                <a:solidFill>
                  <a:srgbClr val="64748B"/>
                </a:solidFill>
              </a:rPr>
              <a:t>Slide 6 of 12 | Rencipe Phase 1 demo plan</a:t>
            </a:r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274320"/>
            <a:ext cx="1112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3000" b="1">
                <a:solidFill>
                  <a:srgbClr val="0F172A"/>
                </a:solidFill>
              </a:rPr>
              <a:t>Demo Flow 1: Recipe Management</a:t>
            </a:r>
            <a:endParaRPr lang="en-US"/>
          </a:p>
        </p:txBody>
      </p:sp>
      <p:sp>
        <p:nvSpPr>
          <p:cNvPr id="3" name="Subtitle"/>
          <p:cNvSpPr txBox="1"/>
          <p:nvPr/>
        </p:nvSpPr>
        <p:spPr>
          <a:xfrm>
            <a:off x="548640" y="822960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1450">
                <a:solidFill>
                  <a:srgbClr val="475569"/>
                </a:solidFill>
              </a:rPr>
              <a:t>Core recipe CRUD and media workflow</a:t>
            </a:r>
            <a:endParaRPr lang="en-US"/>
          </a:p>
        </p:txBody>
      </p:sp>
      <p:sp>
        <p:nvSpPr>
          <p:cNvPr id="4" name="Time"/>
          <p:cNvSpPr txBox="1"/>
          <p:nvPr/>
        </p:nvSpPr>
        <p:spPr>
          <a:xfrm>
            <a:off x="10149840" y="822960"/>
            <a:ext cx="1463040" cy="365760"/>
          </a:xfrm>
          <a:prstGeom prst="roundRect">
            <a:avLst/>
          </a:prstGeom>
          <a:solidFill>
            <a:srgbClr val="CCFBF1"/>
          </a:solidFill>
          <a:ln w="12700">
            <a:solidFill>
              <a:srgbClr val="5EEAD4"/>
            </a:solidFill>
          </a:ln>
        </p:spPr>
        <p:txBody>
          <a:bodyPr wrap="square" lIns="91440" tIns="73152" rIns="91440" bIns="73152"/>
          <a:lstStyle/>
          <a:p>
            <a:r>
              <a:rPr lang="en-US" sz="1350" b="1">
                <a:solidFill>
                  <a:srgbClr val="0F766E"/>
                </a:solidFill>
              </a:rPr>
              <a:t>8:15-11:15</a:t>
            </a:r>
            <a:endParaRPr lang="en-US"/>
          </a:p>
        </p:txBody>
      </p:sp>
      <p:sp>
        <p:nvSpPr>
          <p:cNvPr id="5" name="Show"/>
          <p:cNvSpPr txBox="1"/>
          <p:nvPr/>
        </p:nvSpPr>
        <p:spPr>
          <a:xfrm>
            <a:off x="548640" y="1463040"/>
            <a:ext cx="53644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91440" tIns="73152" rIns="91440" bIns="73152"/>
          <a:lstStyle/>
          <a:p>
            <a:r>
              <a:rPr lang="en-US" sz="1750" b="1">
                <a:solidFill>
                  <a:srgbClr val="0F766E"/>
                </a:solidFill>
              </a:rPr>
              <a:t>Show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Open the live app and recipe list.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Open a recipe detail page.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Create a new recipe with title, description, ingredients, steps, servings, tags, and image.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Show edit/delete path if stable for the recording.</a:t>
            </a:r>
            <a:endParaRPr lang="en-US"/>
          </a:p>
        </p:txBody>
      </p:sp>
      <p:sp>
        <p:nvSpPr>
          <p:cNvPr id="6" name="Outcome to emphasize"/>
          <p:cNvSpPr txBox="1"/>
          <p:nvPr/>
        </p:nvSpPr>
        <p:spPr>
          <a:xfrm>
            <a:off x="6396120" y="1463040"/>
            <a:ext cx="53644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91440" tIns="73152" rIns="91440" bIns="73152"/>
          <a:lstStyle/>
          <a:p>
            <a:r>
              <a:rPr lang="en-US" sz="1750" b="1">
                <a:solidFill>
                  <a:srgbClr val="2563EB"/>
                </a:solidFill>
              </a:rPr>
              <a:t>Outcome to emphasize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Rencipe is not browse-only; users can create and maintain their own recipe data.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Cloud image upload supports a richer recipe record.</a:t>
            </a:r>
            <a:endParaRPr lang="en-US"/>
          </a:p>
        </p:txBody>
      </p:sp>
      <p:sp>
        <p:nvSpPr>
          <p:cNvPr id="7" name="Footer"/>
          <p:cNvSpPr txBox="1"/>
          <p:nvPr/>
        </p:nvSpPr>
        <p:spPr>
          <a:xfrm>
            <a:off x="548640" y="6309360"/>
            <a:ext cx="1112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950">
                <a:solidFill>
                  <a:srgbClr val="64748B"/>
                </a:solidFill>
              </a:rPr>
              <a:t>Slide 7 of 12 | Rencipe Phase 1 demo plan</a:t>
            </a:r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274320"/>
            <a:ext cx="1112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3000" b="1">
                <a:solidFill>
                  <a:srgbClr val="0F172A"/>
                </a:solidFill>
              </a:rPr>
              <a:t>Demo Flow 2: Drafts, Saved Recipes, and Cart</a:t>
            </a:r>
            <a:endParaRPr lang="en-US"/>
          </a:p>
        </p:txBody>
      </p:sp>
      <p:sp>
        <p:nvSpPr>
          <p:cNvPr id="3" name="Subtitle"/>
          <p:cNvSpPr txBox="1"/>
          <p:nvPr/>
        </p:nvSpPr>
        <p:spPr>
          <a:xfrm>
            <a:off x="548640" y="822960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1450">
                <a:solidFill>
                  <a:srgbClr val="475569"/>
                </a:solidFill>
              </a:rPr>
              <a:t>Supporting features around recipe organization</a:t>
            </a:r>
            <a:endParaRPr lang="en-US"/>
          </a:p>
        </p:txBody>
      </p:sp>
      <p:sp>
        <p:nvSpPr>
          <p:cNvPr id="4" name="Time"/>
          <p:cNvSpPr txBox="1"/>
          <p:nvPr/>
        </p:nvSpPr>
        <p:spPr>
          <a:xfrm>
            <a:off x="10149840" y="822960"/>
            <a:ext cx="1463040" cy="365760"/>
          </a:xfrm>
          <a:prstGeom prst="roundRect">
            <a:avLst/>
          </a:prstGeom>
          <a:solidFill>
            <a:srgbClr val="CCFBF1"/>
          </a:solidFill>
          <a:ln w="12700">
            <a:solidFill>
              <a:srgbClr val="5EEAD4"/>
            </a:solidFill>
          </a:ln>
        </p:spPr>
        <p:txBody>
          <a:bodyPr wrap="square" lIns="91440" tIns="73152" rIns="91440" bIns="73152"/>
          <a:lstStyle/>
          <a:p>
            <a:r>
              <a:rPr lang="en-US" sz="1350" b="1">
                <a:solidFill>
                  <a:srgbClr val="0F766E"/>
                </a:solidFill>
              </a:rPr>
              <a:t>11:15-13:00</a:t>
            </a:r>
            <a:endParaRPr lang="en-US"/>
          </a:p>
        </p:txBody>
      </p:sp>
      <p:sp>
        <p:nvSpPr>
          <p:cNvPr id="5" name="Show"/>
          <p:cNvSpPr txBox="1"/>
          <p:nvPr/>
        </p:nvSpPr>
        <p:spPr>
          <a:xfrm>
            <a:off x="548640" y="1463040"/>
            <a:ext cx="53644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91440" tIns="73152" rIns="91440" bIns="73152"/>
          <a:lstStyle/>
          <a:p>
            <a:r>
              <a:rPr lang="en-US" sz="1750" b="1">
                <a:solidFill>
                  <a:srgbClr val="0F766E"/>
                </a:solidFill>
              </a:rPr>
              <a:t>Show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Start a recipe and let autosave capture a draft.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Open drafts and resume the incomplete recipe.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Save/favorite a recipe.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Add recipes to the shopping cart and remove one item.</a:t>
            </a:r>
            <a:endParaRPr lang="en-US"/>
          </a:p>
        </p:txBody>
      </p:sp>
      <p:sp>
        <p:nvSpPr>
          <p:cNvPr id="6" name="Outcome to emphasize"/>
          <p:cNvSpPr txBox="1"/>
          <p:nvPr/>
        </p:nvSpPr>
        <p:spPr>
          <a:xfrm>
            <a:off x="6396120" y="1463040"/>
            <a:ext cx="53644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91440" tIns="73152" rIns="91440" bIns="73152"/>
          <a:lstStyle/>
          <a:p>
            <a:r>
              <a:rPr lang="en-US" sz="1750" b="1">
                <a:solidFill>
                  <a:srgbClr val="2563EB"/>
                </a:solidFill>
              </a:rPr>
              <a:t>Outcome to emphasize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Incomplete work is protected.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Users can collect recipes they care about and prepare a practical shopping set.</a:t>
            </a:r>
            <a:endParaRPr lang="en-US"/>
          </a:p>
        </p:txBody>
      </p:sp>
      <p:sp>
        <p:nvSpPr>
          <p:cNvPr id="7" name="Footer"/>
          <p:cNvSpPr txBox="1"/>
          <p:nvPr/>
        </p:nvSpPr>
        <p:spPr>
          <a:xfrm>
            <a:off x="548640" y="6309360"/>
            <a:ext cx="1112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950">
                <a:solidFill>
                  <a:srgbClr val="64748B"/>
                </a:solidFill>
              </a:rPr>
              <a:t>Slide 8 of 12 | Rencipe Phase 1 demo plan</a:t>
            </a:r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274320"/>
            <a:ext cx="1112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3000" b="1">
                <a:solidFill>
                  <a:srgbClr val="0F172A"/>
                </a:solidFill>
              </a:rPr>
              <a:t>Demo Flow 3: Meal Planning</a:t>
            </a:r>
            <a:endParaRPr lang="en-US"/>
          </a:p>
        </p:txBody>
      </p:sp>
      <p:sp>
        <p:nvSpPr>
          <p:cNvPr id="3" name="Subtitle"/>
          <p:cNvSpPr txBox="1"/>
          <p:nvPr/>
        </p:nvSpPr>
        <p:spPr>
          <a:xfrm>
            <a:off x="548640" y="822960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1450">
                <a:solidFill>
                  <a:srgbClr val="475569"/>
                </a:solidFill>
              </a:rPr>
              <a:t>Flexible people, portions, and generated ingredients</a:t>
            </a:r>
            <a:endParaRPr lang="en-US"/>
          </a:p>
        </p:txBody>
      </p:sp>
      <p:sp>
        <p:nvSpPr>
          <p:cNvPr id="4" name="Time"/>
          <p:cNvSpPr txBox="1"/>
          <p:nvPr/>
        </p:nvSpPr>
        <p:spPr>
          <a:xfrm>
            <a:off x="10149840" y="822960"/>
            <a:ext cx="1463040" cy="365760"/>
          </a:xfrm>
          <a:prstGeom prst="roundRect">
            <a:avLst/>
          </a:prstGeom>
          <a:solidFill>
            <a:srgbClr val="CCFBF1"/>
          </a:solidFill>
          <a:ln w="12700">
            <a:solidFill>
              <a:srgbClr val="5EEAD4"/>
            </a:solidFill>
          </a:ln>
        </p:spPr>
        <p:txBody>
          <a:bodyPr wrap="square" lIns="91440" tIns="73152" rIns="91440" bIns="73152"/>
          <a:lstStyle/>
          <a:p>
            <a:r>
              <a:rPr lang="en-US" sz="1350" b="1">
                <a:solidFill>
                  <a:srgbClr val="0F766E"/>
                </a:solidFill>
              </a:rPr>
              <a:t>13:00-16:00</a:t>
            </a:r>
            <a:endParaRPr lang="en-US"/>
          </a:p>
        </p:txBody>
      </p:sp>
      <p:sp>
        <p:nvSpPr>
          <p:cNvPr id="5" name="Show"/>
          <p:cNvSpPr txBox="1"/>
          <p:nvPr/>
        </p:nvSpPr>
        <p:spPr>
          <a:xfrm>
            <a:off x="548640" y="1463040"/>
            <a:ext cx="53644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91440" tIns="73152" rIns="91440" bIns="73152"/>
          <a:lstStyle/>
          <a:p>
            <a:r>
              <a:rPr lang="en-US" sz="1750" b="1">
                <a:solidFill>
                  <a:srgbClr val="0F766E"/>
                </a:solidFill>
              </a:rPr>
              <a:t>Show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Create a meal plan with people, days, and lunch/dinner settings.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Add component recipe combinations: meat, vegetable, and side.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Adjust person modifiers and portions.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Inspect the generated ingredient list.</a:t>
            </a:r>
            <a:endParaRPr lang="en-US"/>
          </a:p>
        </p:txBody>
      </p:sp>
      <p:sp>
        <p:nvSpPr>
          <p:cNvPr id="6" name="Outcome to emphasize"/>
          <p:cNvSpPr txBox="1"/>
          <p:nvPr/>
        </p:nvSpPr>
        <p:spPr>
          <a:xfrm>
            <a:off x="6396120" y="1463040"/>
            <a:ext cx="53644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91440" tIns="73152" rIns="91440" bIns="73152"/>
          <a:lstStyle/>
          <a:p>
            <a:r>
              <a:rPr lang="en-US" sz="1750" b="1">
                <a:solidFill>
                  <a:srgbClr val="2563EB"/>
                </a:solidFill>
              </a:rPr>
              <a:t>Outcome to emphasize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Meal planning is the main differentiator.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Per-person modifiers connect recipes to real family needs.</a:t>
            </a:r>
            <a:endParaRPr lang="en-US"/>
          </a:p>
        </p:txBody>
      </p:sp>
      <p:sp>
        <p:nvSpPr>
          <p:cNvPr id="7" name="Footer"/>
          <p:cNvSpPr txBox="1"/>
          <p:nvPr/>
        </p:nvSpPr>
        <p:spPr>
          <a:xfrm>
            <a:off x="548640" y="6309360"/>
            <a:ext cx="1112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950">
                <a:solidFill>
                  <a:srgbClr val="64748B"/>
                </a:solidFill>
              </a:rPr>
              <a:t>Slide 9 of 12 | Rencipe Phase 1 demo plan</a:t>
            </a:r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274320"/>
            <a:ext cx="1112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3000" b="1">
                <a:solidFill>
                  <a:srgbClr val="0F172A"/>
                </a:solidFill>
              </a:rPr>
              <a:t>Demo Flow 4: Weekly Scheduler</a:t>
            </a:r>
            <a:endParaRPr lang="en-US"/>
          </a:p>
        </p:txBody>
      </p:sp>
      <p:sp>
        <p:nvSpPr>
          <p:cNvPr id="3" name="Subtitle"/>
          <p:cNvSpPr txBox="1"/>
          <p:nvPr/>
        </p:nvSpPr>
        <p:spPr>
          <a:xfrm>
            <a:off x="548640" y="822960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1450">
                <a:solidFill>
                  <a:srgbClr val="475569"/>
                </a:solidFill>
              </a:rPr>
              <a:t>Turn recipes into a weekly cooking plan</a:t>
            </a:r>
            <a:endParaRPr lang="en-US"/>
          </a:p>
        </p:txBody>
      </p:sp>
      <p:sp>
        <p:nvSpPr>
          <p:cNvPr id="4" name="Time"/>
          <p:cNvSpPr txBox="1"/>
          <p:nvPr/>
        </p:nvSpPr>
        <p:spPr>
          <a:xfrm>
            <a:off x="10149840" y="822960"/>
            <a:ext cx="1463040" cy="365760"/>
          </a:xfrm>
          <a:prstGeom prst="roundRect">
            <a:avLst/>
          </a:prstGeom>
          <a:solidFill>
            <a:srgbClr val="CCFBF1"/>
          </a:solidFill>
          <a:ln w="12700">
            <a:solidFill>
              <a:srgbClr val="5EEAD4"/>
            </a:solidFill>
          </a:ln>
        </p:spPr>
        <p:txBody>
          <a:bodyPr wrap="square" lIns="91440" tIns="73152" rIns="91440" bIns="73152"/>
          <a:lstStyle/>
          <a:p>
            <a:r>
              <a:rPr lang="en-US" sz="1350" b="1">
                <a:solidFill>
                  <a:srgbClr val="0F766E"/>
                </a:solidFill>
              </a:rPr>
              <a:t>16:00-18:00</a:t>
            </a:r>
            <a:endParaRPr lang="en-US"/>
          </a:p>
        </p:txBody>
      </p:sp>
      <p:sp>
        <p:nvSpPr>
          <p:cNvPr id="5" name="Show"/>
          <p:cNvSpPr txBox="1"/>
          <p:nvPr/>
        </p:nvSpPr>
        <p:spPr>
          <a:xfrm>
            <a:off x="548640" y="1463040"/>
            <a:ext cx="53644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91440" tIns="73152" rIns="91440" bIns="73152"/>
          <a:lstStyle/>
          <a:p>
            <a:r>
              <a:rPr lang="en-US" sz="1750" b="1">
                <a:solidFill>
                  <a:srgbClr val="0F766E"/>
                </a:solidFill>
              </a:rPr>
              <a:t>Show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Open weekly plans.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Create or open a weekly plan.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Assign recipes into day and meal slots.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Edit weekly plan settings.</a:t>
            </a:r>
            <a:endParaRPr lang="en-US"/>
          </a:p>
        </p:txBody>
      </p:sp>
      <p:sp>
        <p:nvSpPr>
          <p:cNvPr id="6" name="Outcome to emphasize"/>
          <p:cNvSpPr txBox="1"/>
          <p:nvPr/>
        </p:nvSpPr>
        <p:spPr>
          <a:xfrm>
            <a:off x="6396120" y="1463040"/>
            <a:ext cx="53644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91440" tIns="73152" rIns="91440" bIns="73152"/>
          <a:lstStyle/>
          <a:p>
            <a:r>
              <a:rPr lang="en-US" sz="1750" b="1">
                <a:solidFill>
                  <a:srgbClr val="2563EB"/>
                </a:solidFill>
              </a:rPr>
              <a:t>Outcome to emphasize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Users can move from recipe collection to calendar-like meal scheduling.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The scheduler supports repeated household planning.</a:t>
            </a:r>
            <a:endParaRPr lang="en-US"/>
          </a:p>
        </p:txBody>
      </p:sp>
      <p:sp>
        <p:nvSpPr>
          <p:cNvPr id="7" name="Footer"/>
          <p:cNvSpPr txBox="1"/>
          <p:nvPr/>
        </p:nvSpPr>
        <p:spPr>
          <a:xfrm>
            <a:off x="548640" y="6309360"/>
            <a:ext cx="1112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950">
                <a:solidFill>
                  <a:srgbClr val="64748B"/>
                </a:solidFill>
              </a:rPr>
              <a:t>Slide 10 of 12 | Rencipe Phase 1 demo plan</a:t>
            </a:r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274320"/>
            <a:ext cx="1112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3000" b="1">
                <a:solidFill>
                  <a:srgbClr val="0F172A"/>
                </a:solidFill>
              </a:rPr>
              <a:t>Validation, Deployment, and Testing</a:t>
            </a:r>
            <a:endParaRPr lang="en-US"/>
          </a:p>
        </p:txBody>
      </p:sp>
      <p:sp>
        <p:nvSpPr>
          <p:cNvPr id="3" name="Subtitle"/>
          <p:cNvSpPr txBox="1"/>
          <p:nvPr/>
        </p:nvSpPr>
        <p:spPr>
          <a:xfrm>
            <a:off x="548640" y="822960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1450">
                <a:solidFill>
                  <a:srgbClr val="475569"/>
                </a:solidFill>
              </a:rPr>
              <a:t>Evidence that outcomes are real</a:t>
            </a:r>
            <a:endParaRPr lang="en-US"/>
          </a:p>
        </p:txBody>
      </p:sp>
      <p:sp>
        <p:nvSpPr>
          <p:cNvPr id="4" name="Time"/>
          <p:cNvSpPr txBox="1"/>
          <p:nvPr/>
        </p:nvSpPr>
        <p:spPr>
          <a:xfrm>
            <a:off x="10149840" y="822960"/>
            <a:ext cx="1463040" cy="365760"/>
          </a:xfrm>
          <a:prstGeom prst="roundRect">
            <a:avLst/>
          </a:prstGeom>
          <a:solidFill>
            <a:srgbClr val="CCFBF1"/>
          </a:solidFill>
          <a:ln w="12700">
            <a:solidFill>
              <a:srgbClr val="5EEAD4"/>
            </a:solidFill>
          </a:ln>
        </p:spPr>
        <p:txBody>
          <a:bodyPr wrap="square" lIns="91440" tIns="73152" rIns="91440" bIns="73152"/>
          <a:lstStyle/>
          <a:p>
            <a:r>
              <a:rPr lang="en-US" sz="1350" b="1">
                <a:solidFill>
                  <a:srgbClr val="0F766E"/>
                </a:solidFill>
              </a:rPr>
              <a:t>18:00-19:00</a:t>
            </a:r>
            <a:endParaRPr lang="en-US"/>
          </a:p>
        </p:txBody>
      </p:sp>
      <p:sp>
        <p:nvSpPr>
          <p:cNvPr id="5" name="Deployment evidence"/>
          <p:cNvSpPr txBox="1"/>
          <p:nvPr/>
        </p:nvSpPr>
        <p:spPr>
          <a:xfrm>
            <a:off x="548640" y="1463040"/>
            <a:ext cx="53644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91440" tIns="73152" rIns="91440" bIns="73152"/>
          <a:lstStyle/>
          <a:p>
            <a:r>
              <a:rPr lang="en-US" sz="1750" b="1">
                <a:solidFill>
                  <a:srgbClr val="0F766E"/>
                </a:solidFill>
              </a:rPr>
              <a:t>Deployment evidence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Public URL with SSL/TLS.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Nginx proxy: frontend on 4000, backend API on 6000.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PM2 processes: rencipe-frontend and rencipe-backend.</a:t>
            </a:r>
            <a:endParaRPr lang="en-US"/>
          </a:p>
        </p:txBody>
      </p:sp>
      <p:sp>
        <p:nvSpPr>
          <p:cNvPr id="6" name="Testing evidence"/>
          <p:cNvSpPr txBox="1"/>
          <p:nvPr/>
        </p:nvSpPr>
        <p:spPr>
          <a:xfrm>
            <a:off x="6396120" y="1463040"/>
            <a:ext cx="53644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91440" tIns="73152" rIns="91440" bIns="73152"/>
          <a:lstStyle/>
          <a:p>
            <a:r>
              <a:rPr lang="en-US" sz="1750" b="1">
                <a:solidFill>
                  <a:srgbClr val="2563EB"/>
                </a:solidFill>
              </a:rPr>
              <a:t>Testing evidence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Backend build passes.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Frontend build passes.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Playwright checks for browser-visible flows.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Manual demo path verification before recording.</a:t>
            </a:r>
            <a:endParaRPr lang="en-US"/>
          </a:p>
        </p:txBody>
      </p:sp>
      <p:sp>
        <p:nvSpPr>
          <p:cNvPr id="7" name="Footer"/>
          <p:cNvSpPr txBox="1"/>
          <p:nvPr/>
        </p:nvSpPr>
        <p:spPr>
          <a:xfrm>
            <a:off x="548640" y="6309360"/>
            <a:ext cx="1112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950">
                <a:solidFill>
                  <a:srgbClr val="64748B"/>
                </a:solidFill>
              </a:rPr>
              <a:t>Slide 11 of 12 | Rencipe Phase 1 demo plan</a:t>
            </a:r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274320"/>
            <a:ext cx="1112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3000" b="1">
                <a:solidFill>
                  <a:srgbClr val="0F172A"/>
                </a:solidFill>
              </a:rPr>
              <a:t>Conclusion and Next Steps</a:t>
            </a:r>
            <a:endParaRPr lang="en-US"/>
          </a:p>
        </p:txBody>
      </p:sp>
      <p:sp>
        <p:nvSpPr>
          <p:cNvPr id="3" name="Subtitle"/>
          <p:cNvSpPr txBox="1"/>
          <p:nvPr/>
        </p:nvSpPr>
        <p:spPr>
          <a:xfrm>
            <a:off x="548640" y="822960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1450">
                <a:solidFill>
                  <a:srgbClr val="475569"/>
                </a:solidFill>
              </a:rPr>
              <a:t>Goal achievement and honest remaining work</a:t>
            </a:r>
            <a:endParaRPr lang="en-US"/>
          </a:p>
        </p:txBody>
      </p:sp>
      <p:sp>
        <p:nvSpPr>
          <p:cNvPr id="4" name="Time"/>
          <p:cNvSpPr txBox="1"/>
          <p:nvPr/>
        </p:nvSpPr>
        <p:spPr>
          <a:xfrm>
            <a:off x="10149840" y="822960"/>
            <a:ext cx="1463040" cy="365760"/>
          </a:xfrm>
          <a:prstGeom prst="roundRect">
            <a:avLst/>
          </a:prstGeom>
          <a:solidFill>
            <a:srgbClr val="CCFBF1"/>
          </a:solidFill>
          <a:ln w="12700">
            <a:solidFill>
              <a:srgbClr val="5EEAD4"/>
            </a:solidFill>
          </a:ln>
        </p:spPr>
        <p:txBody>
          <a:bodyPr wrap="square" lIns="91440" tIns="73152" rIns="91440" bIns="73152"/>
          <a:lstStyle/>
          <a:p>
            <a:r>
              <a:rPr lang="en-US" sz="1350" b="1">
                <a:solidFill>
                  <a:srgbClr val="0F766E"/>
                </a:solidFill>
              </a:rPr>
              <a:t>19:00-20:00</a:t>
            </a:r>
            <a:endParaRPr lang="en-US"/>
          </a:p>
        </p:txBody>
      </p:sp>
      <p:sp>
        <p:nvSpPr>
          <p:cNvPr id="5" name="Achieved"/>
          <p:cNvSpPr txBox="1"/>
          <p:nvPr/>
        </p:nvSpPr>
        <p:spPr>
          <a:xfrm>
            <a:off x="548640" y="1463040"/>
            <a:ext cx="35356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91440" tIns="73152" rIns="91440" bIns="73152"/>
          <a:lstStyle/>
          <a:p>
            <a:r>
              <a:rPr lang="en-US" sz="1750" b="1">
                <a:solidFill>
                  <a:srgbClr val="0F766E"/>
                </a:solidFill>
              </a:rPr>
              <a:t>Achieved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Recipe management.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Drafts, saved recipes, cart.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Meal planning and weekly scheduling.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Live deployment with SSL/TLS.</a:t>
            </a:r>
            <a:endParaRPr lang="en-US"/>
          </a:p>
        </p:txBody>
      </p:sp>
      <p:sp>
        <p:nvSpPr>
          <p:cNvPr id="6" name="Not fully achieved yet"/>
          <p:cNvSpPr txBox="1"/>
          <p:nvPr/>
        </p:nvSpPr>
        <p:spPr>
          <a:xfrm>
            <a:off x="4267200" y="1463040"/>
            <a:ext cx="35356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91440" tIns="73152" rIns="91440" bIns="73152"/>
          <a:lstStyle/>
          <a:p>
            <a:r>
              <a:rPr lang="en-US" sz="1750" b="1">
                <a:solidFill>
                  <a:srgbClr val="2563EB"/>
                </a:solidFill>
              </a:rPr>
              <a:t>Not fully achieved yet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Full account/JWT/RBAC flow.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Keto-specific dietary features.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Responsive polish across every screen.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Final report completion.</a:t>
            </a:r>
            <a:endParaRPr lang="en-US"/>
          </a:p>
        </p:txBody>
      </p:sp>
      <p:sp>
        <p:nvSpPr>
          <p:cNvPr id="7" name="Closing success criteria"/>
          <p:cNvSpPr txBox="1"/>
          <p:nvPr/>
        </p:nvSpPr>
        <p:spPr>
          <a:xfrm>
            <a:off x="7975760" y="1463040"/>
            <a:ext cx="35356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91440" tIns="73152" rIns="91440" bIns="73152"/>
          <a:lstStyle/>
          <a:p>
            <a:r>
              <a:rPr lang="en-US" sz="1750" b="1">
                <a:solidFill>
                  <a:srgbClr val="7C3AED"/>
                </a:solidFill>
              </a:rPr>
              <a:t>Closing success criteria</a:t>
            </a:r>
            <a:endParaRPr lang="en-US"/>
          </a:p>
          <a:p>
            <a:r>
              <a:rPr lang="en-US" sz="1350">
                <a:solidFill>
                  <a:srgbClr val="334155"/>
                </a:solidFill>
              </a:rPr>
              <a:t>- A viewer can understand the problem, see the solution working, and tell which goals were achieved in Phase 1.</a:t>
            </a:r>
            <a:endParaRPr lang="en-US"/>
          </a:p>
        </p:txBody>
      </p:sp>
      <p:sp>
        <p:nvSpPr>
          <p:cNvPr id="8" name="Footer"/>
          <p:cNvSpPr txBox="1"/>
          <p:nvPr/>
        </p:nvSpPr>
        <p:spPr>
          <a:xfrm>
            <a:off x="548640" y="6309360"/>
            <a:ext cx="1112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950">
                <a:solidFill>
                  <a:srgbClr val="64748B"/>
                </a:solidFill>
              </a:rPr>
              <a:t>Slide 12 of 12 | Rencipe Phase 1 demo plan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ncipe Theme">
  <a:themeElements>
    <a:clrScheme name="Rencipe">
      <a:dk1>
        <a:srgbClr val="0F172A"/>
      </a:dk1>
      <a:lt1>
        <a:srgbClr val="FFFFFF"/>
      </a:lt1>
      <a:dk2>
        <a:srgbClr val="334155"/>
      </a:dk2>
      <a:lt2>
        <a:srgbClr val="F8FAFC"/>
      </a:lt2>
      <a:accent1>
        <a:srgbClr val="0F766E"/>
      </a:accent1>
      <a:accent2>
        <a:srgbClr val="2563EB"/>
      </a:accent2>
      <a:accent3>
        <a:srgbClr val="7C3AED"/>
      </a:accent3>
      <a:accent4>
        <a:srgbClr val="EA580C"/>
      </a:accent4>
      <a:accent5>
        <a:srgbClr val="16A34A"/>
      </a:accent5>
      <a:accent6>
        <a:srgbClr val="DC2626"/>
      </a:accent6>
      <a:hlink>
        <a:srgbClr val="2563EB"/>
      </a:hlink>
      <a:folHlink>
        <a:srgbClr val="7C3AED"/>
      </a:folHlink>
    </a:clrScheme>
    <a:fontScheme name="Aptos">
      <a:majorFont>
        <a:latin typeface="Aptos Display"/>
      </a:majorFont>
      <a:minorFont>
        <a:latin typeface="Aptos"/>
      </a:minorFont>
    </a:fontScheme>
    <a:fmtScheme name="Rencipe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GitHub Copilot</Application>
  <PresentationFormat>On-screen Show (16:9)</PresentationFormat>
  <Slides>12</Slides>
  <Company>Rencipe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Rencipe Phase 1 Demo Plan</dc:title>
  <dc:subject>CPSC 597 20-minute demo slide map</dc:subject>
  <dc:creator>GitHub Copilot</dc:creator>
  <cp:lastModifiedBy>GitHub Copilot</cp:lastModifiedBy>
  <dcterms:created xsi:type="dcterms:W3CDTF">2026-05-03T06:15:48Z</dcterms:created>
  <dcterms:modified xsi:type="dcterms:W3CDTF">2026-05-03T06:15:48Z</dcterms:modified>
</cp:coreProperties>
</file>